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Times New Roman" charset="1" panose="02020603050405020304"/>
      <p:regular r:id="rId23"/>
    </p:embeddedFont>
    <p:embeddedFont>
      <p:font typeface="Clear Sans Medium" charset="1" panose="020B0603030202020304"/>
      <p:regular r:id="rId24"/>
    </p:embeddedFont>
    <p:embeddedFont>
      <p:font typeface="Clear Sans" charset="1" panose="020B0503030202020304"/>
      <p:regular r:id="rId25"/>
    </p:embeddedFont>
    <p:embeddedFont>
      <p:font typeface="Clear Sans Bold" charset="1" panose="020B0803030202020304"/>
      <p:regular r:id="rId26"/>
    </p:embeddedFont>
    <p:embeddedFont>
      <p:font typeface="Times New Roman Bold" charset="1" panose="02020803070505020304"/>
      <p:regular r:id="rId27"/>
    </p:embeddedFont>
    <p:embeddedFont>
      <p:font typeface="Tenor Sans" charset="1" panose="02000000000000000000"/>
      <p:regular r:id="rId28"/>
    </p:embeddedFont>
    <p:embeddedFont>
      <p:font typeface="Noto Sans" charset="1" panose="020B0502040504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 Id="rId4" Target="../media/image11.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666750" y="3199062"/>
            <a:ext cx="9763125" cy="4868490"/>
            <a:chOff x="0" y="0"/>
            <a:chExt cx="13017500" cy="6491320"/>
          </a:xfrm>
        </p:grpSpPr>
        <p:sp>
          <p:nvSpPr>
            <p:cNvPr name="TextBox 3" id="3"/>
            <p:cNvSpPr txBox="true"/>
            <p:nvPr/>
          </p:nvSpPr>
          <p:spPr>
            <a:xfrm rot="0">
              <a:off x="0" y="76200"/>
              <a:ext cx="13017500" cy="5207000"/>
            </a:xfrm>
            <a:prstGeom prst="rect">
              <a:avLst/>
            </a:prstGeom>
          </p:spPr>
          <p:txBody>
            <a:bodyPr anchor="t" rtlCol="false" tIns="0" lIns="0" bIns="0" rIns="0">
              <a:spAutoFit/>
            </a:bodyPr>
            <a:lstStyle/>
            <a:p>
              <a:pPr algn="l" marL="0" indent="0" lvl="0">
                <a:lnSpc>
                  <a:spcPts val="6000"/>
                </a:lnSpc>
              </a:pPr>
              <a:r>
                <a:rPr lang="en-US" sz="6000" spc="-120">
                  <a:solidFill>
                    <a:srgbClr val="FFFFFF"/>
                  </a:solidFill>
                  <a:latin typeface="Times New Roman"/>
                  <a:ea typeface="Times New Roman"/>
                  <a:cs typeface="Times New Roman"/>
                  <a:sym typeface="Times New Roman"/>
                </a:rPr>
                <a:t>Design and</a:t>
              </a:r>
              <a:r>
                <a:rPr lang="en-US" sz="6000" spc="-120">
                  <a:solidFill>
                    <a:srgbClr val="FFFFFF"/>
                  </a:solidFill>
                  <a:latin typeface="Times New Roman"/>
                  <a:ea typeface="Times New Roman"/>
                  <a:cs typeface="Times New Roman"/>
                  <a:sym typeface="Times New Roman"/>
                </a:rPr>
                <a:t> Evaluation of Multi-Agent Architectures for Stock Price Prediction: A Vietnam Case Study</a:t>
              </a:r>
            </a:p>
            <a:p>
              <a:pPr algn="l" marL="0" indent="0" lvl="0">
                <a:lnSpc>
                  <a:spcPts val="6000"/>
                </a:lnSpc>
              </a:pPr>
            </a:p>
          </p:txBody>
        </p:sp>
        <p:sp>
          <p:nvSpPr>
            <p:cNvPr name="TextBox 4" id="4"/>
            <p:cNvSpPr txBox="true"/>
            <p:nvPr/>
          </p:nvSpPr>
          <p:spPr>
            <a:xfrm rot="0">
              <a:off x="0" y="5764669"/>
              <a:ext cx="13017500" cy="726652"/>
            </a:xfrm>
            <a:prstGeom prst="rect">
              <a:avLst/>
            </a:prstGeom>
          </p:spPr>
          <p:txBody>
            <a:bodyPr anchor="t" rtlCol="false" tIns="0" lIns="0" bIns="0" rIns="0">
              <a:spAutoFit/>
            </a:bodyPr>
            <a:lstStyle/>
            <a:p>
              <a:pPr algn="l" marL="0" indent="0" lvl="0">
                <a:lnSpc>
                  <a:spcPts val="4480"/>
                </a:lnSpc>
                <a:spcBef>
                  <a:spcPct val="0"/>
                </a:spcBef>
              </a:pPr>
              <a:r>
                <a:rPr lang="en-US" sz="3200">
                  <a:solidFill>
                    <a:srgbClr val="BBDEFB"/>
                  </a:solidFill>
                  <a:latin typeface="Times New Roman"/>
                  <a:ea typeface="Times New Roman"/>
                  <a:cs typeface="Times New Roman"/>
                  <a:sym typeface="Times New Roman"/>
                </a:rPr>
                <a:t>NGUYỄN MINH DƯƠNG (23010441)</a:t>
              </a:r>
            </a:p>
          </p:txBody>
        </p:sp>
      </p:grpSp>
      <p:grpSp>
        <p:nvGrpSpPr>
          <p:cNvPr name="Group 5" id="5"/>
          <p:cNvGrpSpPr/>
          <p:nvPr/>
        </p:nvGrpSpPr>
        <p:grpSpPr>
          <a:xfrm rot="0">
            <a:off x="12172950" y="0"/>
            <a:ext cx="6115050" cy="10287000"/>
            <a:chOff x="0" y="0"/>
            <a:chExt cx="947381" cy="1593725"/>
          </a:xfrm>
        </p:grpSpPr>
        <p:sp>
          <p:nvSpPr>
            <p:cNvPr name="Freeform 6" id="6"/>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0" t="-58" r="0" b="-58"/>
              </a:stretch>
            </a:blipFill>
          </p:spPr>
        </p:sp>
      </p:grpSp>
      <p:sp>
        <p:nvSpPr>
          <p:cNvPr name="Freeform 7" id="7"/>
          <p:cNvSpPr/>
          <p:nvPr/>
        </p:nvSpPr>
        <p:spPr>
          <a:xfrm flipH="false" flipV="false" rot="0">
            <a:off x="8774635" y="7396104"/>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83593"/>
        </a:solidFill>
      </p:bgPr>
    </p:bg>
    <p:spTree>
      <p:nvGrpSpPr>
        <p:cNvPr id="1" name=""/>
        <p:cNvGrpSpPr/>
        <p:nvPr/>
      </p:nvGrpSpPr>
      <p:grpSpPr>
        <a:xfrm>
          <a:off x="0" y="0"/>
          <a:ext cx="0" cy="0"/>
          <a:chOff x="0" y="0"/>
          <a:chExt cx="0" cy="0"/>
        </a:xfrm>
      </p:grpSpPr>
      <p:sp>
        <p:nvSpPr>
          <p:cNvPr name="Freeform 2" id="2"/>
          <p:cNvSpPr/>
          <p:nvPr/>
        </p:nvSpPr>
        <p:spPr>
          <a:xfrm flipH="false" flipV="false" rot="0">
            <a:off x="15150568"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427088" y="5404960"/>
            <a:ext cx="7860912" cy="4882040"/>
          </a:xfrm>
          <a:custGeom>
            <a:avLst/>
            <a:gdLst/>
            <a:ahLst/>
            <a:cxnLst/>
            <a:rect r="r" b="b" t="t" l="l"/>
            <a:pathLst>
              <a:path h="4882040" w="7860912">
                <a:moveTo>
                  <a:pt x="0" y="0"/>
                </a:moveTo>
                <a:lnTo>
                  <a:pt x="7860912" y="0"/>
                </a:lnTo>
                <a:lnTo>
                  <a:pt x="7860912" y="4882040"/>
                </a:lnTo>
                <a:lnTo>
                  <a:pt x="0" y="4882040"/>
                </a:lnTo>
                <a:lnTo>
                  <a:pt x="0" y="0"/>
                </a:lnTo>
                <a:close/>
              </a:path>
            </a:pathLst>
          </a:custGeom>
          <a:blipFill>
            <a:blip r:embed="rId4"/>
            <a:stretch>
              <a:fillRect l="0" t="0" r="0" b="0"/>
            </a:stretch>
          </a:blipFill>
        </p:spPr>
      </p:sp>
      <p:grpSp>
        <p:nvGrpSpPr>
          <p:cNvPr name="Group 4" id="4"/>
          <p:cNvGrpSpPr/>
          <p:nvPr/>
        </p:nvGrpSpPr>
        <p:grpSpPr>
          <a:xfrm rot="0">
            <a:off x="409575" y="717999"/>
            <a:ext cx="9763125" cy="7614245"/>
            <a:chOff x="0" y="0"/>
            <a:chExt cx="13017500" cy="10152327"/>
          </a:xfrm>
        </p:grpSpPr>
        <p:sp>
          <p:nvSpPr>
            <p:cNvPr name="TextBox 5" id="5"/>
            <p:cNvSpPr txBox="true"/>
            <p:nvPr/>
          </p:nvSpPr>
          <p:spPr>
            <a:xfrm rot="0">
              <a:off x="0" y="-28575"/>
              <a:ext cx="13017500" cy="2847975"/>
            </a:xfrm>
            <a:prstGeom prst="rect">
              <a:avLst/>
            </a:prstGeom>
          </p:spPr>
          <p:txBody>
            <a:bodyPr anchor="t" rtlCol="false" tIns="0" lIns="0" bIns="0" rIns="0">
              <a:spAutoFit/>
            </a:bodyPr>
            <a:lstStyle/>
            <a:p>
              <a:pPr algn="l" marL="0" indent="0" lvl="0">
                <a:lnSpc>
                  <a:spcPts val="8399"/>
                </a:lnSpc>
              </a:pPr>
              <a:r>
                <a:rPr lang="en-US" sz="6999" spc="-139">
                  <a:solidFill>
                    <a:srgbClr val="FFFFFF"/>
                  </a:solidFill>
                  <a:latin typeface="Times New Roman"/>
                  <a:ea typeface="Times New Roman"/>
                  <a:cs typeface="Times New Roman"/>
                  <a:sym typeface="Times New Roman"/>
                </a:rPr>
                <a:t>In</a:t>
              </a:r>
              <a:r>
                <a:rPr lang="en-US" sz="6999" spc="-139">
                  <a:solidFill>
                    <a:srgbClr val="FFFFFF"/>
                  </a:solidFill>
                  <a:latin typeface="Times New Roman"/>
                  <a:ea typeface="Times New Roman"/>
                  <a:cs typeface="Times New Roman"/>
                  <a:sym typeface="Times New Roman"/>
                </a:rPr>
                <a:t>troduction: Vietnam stock market</a:t>
              </a:r>
            </a:p>
          </p:txBody>
        </p:sp>
        <p:sp>
          <p:nvSpPr>
            <p:cNvPr name="TextBox 6" id="6"/>
            <p:cNvSpPr txBox="true"/>
            <p:nvPr/>
          </p:nvSpPr>
          <p:spPr>
            <a:xfrm rot="0">
              <a:off x="0" y="3533739"/>
              <a:ext cx="1301750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C5CAE9"/>
                  </a:solidFill>
                  <a:latin typeface="Clear Sans Medium"/>
                  <a:ea typeface="Clear Sans Medium"/>
                  <a:cs typeface="Clear Sans Medium"/>
                  <a:sym typeface="Clear Sans Medium"/>
                </a:rPr>
                <a:t>DA</a:t>
              </a:r>
              <a:r>
                <a:rPr lang="en-US" b="true" sz="2400">
                  <a:solidFill>
                    <a:srgbClr val="C5CAE9"/>
                  </a:solidFill>
                  <a:latin typeface="Clear Sans Medium"/>
                  <a:ea typeface="Clear Sans Medium"/>
                  <a:cs typeface="Clear Sans Medium"/>
                  <a:sym typeface="Clear Sans Medium"/>
                </a:rPr>
                <a:t>TA ANALYSIS CHALLENGES</a:t>
              </a:r>
            </a:p>
          </p:txBody>
        </p:sp>
        <p:sp>
          <p:nvSpPr>
            <p:cNvPr name="TextBox 7" id="7"/>
            <p:cNvSpPr txBox="true"/>
            <p:nvPr/>
          </p:nvSpPr>
          <p:spPr>
            <a:xfrm rot="0">
              <a:off x="0" y="4727522"/>
              <a:ext cx="13017500" cy="5424805"/>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FFFFFF"/>
                  </a:solidFill>
                  <a:latin typeface="Clear Sans"/>
                  <a:ea typeface="Clear Sans"/>
                  <a:cs typeface="Clear Sans"/>
                  <a:sym typeface="Clear Sans"/>
                </a:rPr>
                <a:t>The Vietnamese stock market is currently facing a massive volume of data and constant real-time volatility.</a:t>
              </a:r>
            </a:p>
            <a:p>
              <a:pPr algn="l" marL="453390" indent="-226695" lvl="1">
                <a:lnSpc>
                  <a:spcPts val="2940"/>
                </a:lnSpc>
                <a:buFont typeface="Arial"/>
                <a:buChar char="•"/>
              </a:pPr>
              <a:r>
                <a:rPr lang="en-US" sz="2100">
                  <a:solidFill>
                    <a:srgbClr val="FFFFFF"/>
                  </a:solidFill>
                  <a:latin typeface="Clear Sans"/>
                  <a:ea typeface="Clear Sans"/>
                  <a:cs typeface="Clear Sans"/>
                  <a:sym typeface="Clear Sans"/>
                </a:rPr>
                <a:t>Stock prices, economic news, and macroeconomic policies change rapidly, creating a complex and unpredictable investment environment.</a:t>
              </a:r>
            </a:p>
            <a:p>
              <a:pPr algn="l" marL="453390" indent="-226695" lvl="1">
                <a:lnSpc>
                  <a:spcPts val="2940"/>
                </a:lnSpc>
                <a:buFont typeface="Arial"/>
                <a:buChar char="•"/>
              </a:pPr>
              <a:r>
                <a:rPr lang="en-US" sz="2100">
                  <a:solidFill>
                    <a:srgbClr val="FFFFFF"/>
                  </a:solidFill>
                  <a:latin typeface="Clear Sans"/>
                  <a:ea typeface="Clear Sans"/>
                  <a:cs typeface="Clear Sans"/>
                  <a:sym typeface="Clear Sans"/>
                </a:rPr>
                <a:t>Investors must process and analyze this large amount of information to seize opportunities and mitigate risks in the decision-making process.</a:t>
              </a:r>
            </a:p>
            <a:p>
              <a:pPr algn="l" marL="453390" indent="-226695" lvl="1">
                <a:lnSpc>
                  <a:spcPts val="2940"/>
                </a:lnSpc>
                <a:buFont typeface="Arial"/>
                <a:buChar char="•"/>
              </a:pPr>
              <a:r>
                <a:rPr lang="en-US" sz="2100">
                  <a:solidFill>
                    <a:srgbClr val="FFFFFF"/>
                  </a:solidFill>
                  <a:latin typeface="Clear Sans"/>
                  <a:ea typeface="Clear Sans"/>
                  <a:cs typeface="Clear Sans"/>
                  <a:sym typeface="Clear Sans"/>
                </a:rPr>
                <a:t>The high volatility of the market makes investing require keen insight, data analysis skills, and modern support tools.</a:t>
              </a:r>
            </a:p>
            <a:p>
              <a:pPr algn="l" marL="453390" indent="-226695" lvl="1">
                <a:lnSpc>
                  <a:spcPts val="2940"/>
                </a:lnSpc>
                <a:buFont typeface="Arial"/>
                <a:buChar char="•"/>
              </a:pPr>
              <a:r>
                <a:rPr lang="en-US" sz="2100">
                  <a:solidFill>
                    <a:srgbClr val="FFFFFF"/>
                  </a:solidFill>
                  <a:latin typeface="Clear Sans"/>
                  <a:ea typeface="Clear Sans"/>
                  <a:cs typeface="Clear Sans"/>
                  <a:sym typeface="Clear Sans"/>
                </a:rPr>
                <a:t>In this context, the application of data analytics and artificial intelligence (AI) technology becomes essential to help investors make accurate and timely decisions.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949AB"/>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66750" y="4022421"/>
            <a:ext cx="7195577" cy="5728308"/>
          </a:xfrm>
          <a:custGeom>
            <a:avLst/>
            <a:gdLst/>
            <a:ahLst/>
            <a:cxnLst/>
            <a:rect r="r" b="b" t="t" l="l"/>
            <a:pathLst>
              <a:path h="5728308" w="7195577">
                <a:moveTo>
                  <a:pt x="0" y="0"/>
                </a:moveTo>
                <a:lnTo>
                  <a:pt x="7195577" y="0"/>
                </a:lnTo>
                <a:lnTo>
                  <a:pt x="7195577" y="5728308"/>
                </a:lnTo>
                <a:lnTo>
                  <a:pt x="0" y="5728308"/>
                </a:lnTo>
                <a:lnTo>
                  <a:pt x="0" y="0"/>
                </a:lnTo>
                <a:close/>
              </a:path>
            </a:pathLst>
          </a:custGeom>
          <a:blipFill>
            <a:blip r:embed="rId4"/>
            <a:stretch>
              <a:fillRect l="0" t="-6596" r="0" b="-19018"/>
            </a:stretch>
          </a:blipFill>
        </p:spPr>
      </p:sp>
      <p:sp>
        <p:nvSpPr>
          <p:cNvPr name="TextBox 4" id="4"/>
          <p:cNvSpPr txBox="true"/>
          <p:nvPr/>
        </p:nvSpPr>
        <p:spPr>
          <a:xfrm rot="0">
            <a:off x="666750" y="1533511"/>
            <a:ext cx="8324850" cy="2143125"/>
          </a:xfrm>
          <a:prstGeom prst="rect">
            <a:avLst/>
          </a:prstGeom>
        </p:spPr>
        <p:txBody>
          <a:bodyPr anchor="t" rtlCol="false" tIns="0" lIns="0" bIns="0" rIns="0">
            <a:spAutoFit/>
          </a:bodyPr>
          <a:lstStyle/>
          <a:p>
            <a:pPr algn="l" marL="0" indent="0" lvl="0">
              <a:lnSpc>
                <a:spcPts val="8399"/>
              </a:lnSpc>
            </a:pPr>
            <a:r>
              <a:rPr lang="en-US" sz="6999" spc="-139">
                <a:solidFill>
                  <a:srgbClr val="FFFFFF"/>
                </a:solidFill>
                <a:latin typeface="Times New Roman"/>
                <a:ea typeface="Times New Roman"/>
                <a:cs typeface="Times New Roman"/>
                <a:sym typeface="Times New Roman"/>
              </a:rPr>
              <a:t>The</a:t>
            </a:r>
            <a:r>
              <a:rPr lang="en-US" sz="6999" spc="-139">
                <a:solidFill>
                  <a:srgbClr val="FFFFFF"/>
                </a:solidFill>
                <a:latin typeface="Times New Roman"/>
                <a:ea typeface="Times New Roman"/>
                <a:cs typeface="Times New Roman"/>
                <a:sym typeface="Times New Roman"/>
              </a:rPr>
              <a:t> goal of building the system.</a:t>
            </a:r>
          </a:p>
        </p:txBody>
      </p:sp>
      <p:grpSp>
        <p:nvGrpSpPr>
          <p:cNvPr name="Group 5" id="5"/>
          <p:cNvGrpSpPr/>
          <p:nvPr/>
        </p:nvGrpSpPr>
        <p:grpSpPr>
          <a:xfrm rot="0">
            <a:off x="10734675" y="1562086"/>
            <a:ext cx="6886575" cy="1956435"/>
            <a:chOff x="0" y="0"/>
            <a:chExt cx="9182100" cy="2608581"/>
          </a:xfrm>
        </p:grpSpPr>
        <p:sp>
          <p:nvSpPr>
            <p:cNvPr name="TextBox 6" id="6"/>
            <p:cNvSpPr txBox="true"/>
            <p:nvPr/>
          </p:nvSpPr>
          <p:spPr>
            <a:xfrm rot="0">
              <a:off x="0" y="-47625"/>
              <a:ext cx="918210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E8EAF6"/>
                  </a:solidFill>
                  <a:latin typeface="Clear Sans Medium"/>
                  <a:ea typeface="Clear Sans Medium"/>
                  <a:cs typeface="Clear Sans Medium"/>
                  <a:sym typeface="Clear Sans Medium"/>
                </a:rPr>
                <a:t>D</a:t>
              </a:r>
              <a:r>
                <a:rPr lang="en-US" b="true" sz="2400">
                  <a:solidFill>
                    <a:srgbClr val="E8EAF6"/>
                  </a:solidFill>
                  <a:latin typeface="Clear Sans Medium"/>
                  <a:ea typeface="Clear Sans Medium"/>
                  <a:cs typeface="Clear Sans Medium"/>
                  <a:sym typeface="Clear Sans Medium"/>
                </a:rPr>
                <a:t>ATA AUTOMATION</a:t>
              </a:r>
            </a:p>
          </p:txBody>
        </p:sp>
        <p:sp>
          <p:nvSpPr>
            <p:cNvPr name="TextBox 7" id="7"/>
            <p:cNvSpPr txBox="true"/>
            <p:nvPr/>
          </p:nvSpPr>
          <p:spPr>
            <a:xfrm rot="0">
              <a:off x="0" y="1146176"/>
              <a:ext cx="9182100" cy="146240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FFFFFF"/>
                  </a:solidFill>
                  <a:latin typeface="Clear Sans"/>
                  <a:ea typeface="Clear Sans"/>
                  <a:cs typeface="Clear Sans"/>
                  <a:sym typeface="Clear Sans"/>
                </a:rPr>
                <a:t>T</a:t>
              </a:r>
              <a:r>
                <a:rPr lang="en-US" sz="2100">
                  <a:solidFill>
                    <a:srgbClr val="FFFFFF"/>
                  </a:solidFill>
                  <a:latin typeface="Clear Sans"/>
                  <a:ea typeface="Clear Sans"/>
                  <a:cs typeface="Clear Sans"/>
                  <a:sym typeface="Clear Sans"/>
                </a:rPr>
                <a:t>he Multi-Agent sys</a:t>
              </a:r>
              <a:r>
                <a:rPr lang="en-US" sz="2100">
                  <a:solidFill>
                    <a:srgbClr val="FFFFFF"/>
                  </a:solidFill>
                  <a:latin typeface="Clear Sans"/>
                  <a:ea typeface="Clear Sans"/>
                  <a:cs typeface="Clear Sans"/>
                  <a:sym typeface="Clear Sans"/>
                </a:rPr>
                <a:t>t</a:t>
              </a:r>
              <a:r>
                <a:rPr lang="en-US" sz="2100">
                  <a:solidFill>
                    <a:srgbClr val="FFFFFF"/>
                  </a:solidFill>
                  <a:latin typeface="Clear Sans"/>
                  <a:ea typeface="Clear Sans"/>
                  <a:cs typeface="Clear Sans"/>
                  <a:sym typeface="Clear Sans"/>
                </a:rPr>
                <a:t>em</a:t>
              </a:r>
              <a:r>
                <a:rPr lang="en-US" sz="2100">
                  <a:solidFill>
                    <a:srgbClr val="FFFFFF"/>
                  </a:solidFill>
                  <a:latin typeface="Clear Sans"/>
                  <a:ea typeface="Clear Sans"/>
                  <a:cs typeface="Clear Sans"/>
                  <a:sym typeface="Clear Sans"/>
                </a:rPr>
                <a:t> </a:t>
              </a:r>
              <a:r>
                <a:rPr lang="en-US" sz="2100">
                  <a:solidFill>
                    <a:srgbClr val="FFFFFF"/>
                  </a:solidFill>
                  <a:latin typeface="Clear Sans"/>
                  <a:ea typeface="Clear Sans"/>
                  <a:cs typeface="Clear Sans"/>
                  <a:sym typeface="Clear Sans"/>
                </a:rPr>
                <a:t>will automatically collect and process securities data, helping investors make quick decisions.</a:t>
              </a:r>
            </a:p>
          </p:txBody>
        </p:sp>
      </p:grpSp>
      <p:grpSp>
        <p:nvGrpSpPr>
          <p:cNvPr name="Group 8" id="8"/>
          <p:cNvGrpSpPr/>
          <p:nvPr/>
        </p:nvGrpSpPr>
        <p:grpSpPr>
          <a:xfrm rot="0">
            <a:off x="10734675" y="4248150"/>
            <a:ext cx="6886575" cy="1956291"/>
            <a:chOff x="0" y="0"/>
            <a:chExt cx="9182100" cy="2608387"/>
          </a:xfrm>
        </p:grpSpPr>
        <p:sp>
          <p:nvSpPr>
            <p:cNvPr name="TextBox 9" id="9"/>
            <p:cNvSpPr txBox="true"/>
            <p:nvPr/>
          </p:nvSpPr>
          <p:spPr>
            <a:xfrm rot="0">
              <a:off x="0" y="-47625"/>
              <a:ext cx="918210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E8EAF6"/>
                  </a:solidFill>
                  <a:latin typeface="Clear Sans Medium"/>
                  <a:ea typeface="Clear Sans Medium"/>
                  <a:cs typeface="Clear Sans Medium"/>
                  <a:sym typeface="Clear Sans Medium"/>
                </a:rPr>
                <a:t>A</a:t>
              </a:r>
              <a:r>
                <a:rPr lang="en-US" b="true" sz="2400">
                  <a:solidFill>
                    <a:srgbClr val="E8EAF6"/>
                  </a:solidFill>
                  <a:latin typeface="Clear Sans Medium"/>
                  <a:ea typeface="Clear Sans Medium"/>
                  <a:cs typeface="Clear Sans Medium"/>
                  <a:sym typeface="Clear Sans Medium"/>
                </a:rPr>
                <a:t>NALYSIS AND PREDICTION</a:t>
              </a:r>
            </a:p>
          </p:txBody>
        </p:sp>
        <p:sp>
          <p:nvSpPr>
            <p:cNvPr name="TextBox 10" id="10"/>
            <p:cNvSpPr txBox="true"/>
            <p:nvPr/>
          </p:nvSpPr>
          <p:spPr>
            <a:xfrm rot="0">
              <a:off x="0" y="1145982"/>
              <a:ext cx="9182100" cy="146240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FFFFFF"/>
                  </a:solidFill>
                  <a:latin typeface="Clear Sans"/>
                  <a:ea typeface="Clear Sans"/>
                  <a:cs typeface="Clear Sans"/>
                  <a:sym typeface="Clear Sans"/>
                </a:rPr>
                <a:t>Usi</a:t>
              </a:r>
              <a:r>
                <a:rPr lang="en-US" sz="2100">
                  <a:solidFill>
                    <a:srgbClr val="FFFFFF"/>
                  </a:solidFill>
                  <a:latin typeface="Clear Sans"/>
                  <a:ea typeface="Clear Sans"/>
                  <a:cs typeface="Clear Sans"/>
                  <a:sym typeface="Clear Sans"/>
                </a:rPr>
                <a:t>ng AI/LSTM for stock price pre</a:t>
              </a:r>
              <a:r>
                <a:rPr lang="en-US" sz="2100">
                  <a:solidFill>
                    <a:srgbClr val="FFFFFF"/>
                  </a:solidFill>
                  <a:latin typeface="Clear Sans"/>
                  <a:ea typeface="Clear Sans"/>
                  <a:cs typeface="Clear Sans"/>
                  <a:sym typeface="Clear Sans"/>
                </a:rPr>
                <a:t>d</a:t>
              </a:r>
              <a:r>
                <a:rPr lang="en-US" sz="2100">
                  <a:solidFill>
                    <a:srgbClr val="FFFFFF"/>
                  </a:solidFill>
                  <a:latin typeface="Clear Sans"/>
                  <a:ea typeface="Clear Sans"/>
                  <a:cs typeface="Clear Sans"/>
                  <a:sym typeface="Clear Sans"/>
                </a:rPr>
                <a:t>iction, the system will provide accurate recommendations on investment strategies.</a:t>
              </a:r>
            </a:p>
          </p:txBody>
        </p:sp>
      </p:grpSp>
      <p:grpSp>
        <p:nvGrpSpPr>
          <p:cNvPr name="Group 11" id="11"/>
          <p:cNvGrpSpPr/>
          <p:nvPr/>
        </p:nvGrpSpPr>
        <p:grpSpPr>
          <a:xfrm rot="0">
            <a:off x="10734675" y="6934200"/>
            <a:ext cx="6886575" cy="1956422"/>
            <a:chOff x="0" y="0"/>
            <a:chExt cx="9182100" cy="2608563"/>
          </a:xfrm>
        </p:grpSpPr>
        <p:sp>
          <p:nvSpPr>
            <p:cNvPr name="TextBox 12" id="12"/>
            <p:cNvSpPr txBox="true"/>
            <p:nvPr/>
          </p:nvSpPr>
          <p:spPr>
            <a:xfrm rot="0">
              <a:off x="0" y="-47625"/>
              <a:ext cx="9182100" cy="530032"/>
            </a:xfrm>
            <a:prstGeom prst="rect">
              <a:avLst/>
            </a:prstGeom>
          </p:spPr>
          <p:txBody>
            <a:bodyPr anchor="t" rtlCol="false" tIns="0" lIns="0" bIns="0" rIns="0">
              <a:spAutoFit/>
            </a:bodyPr>
            <a:lstStyle/>
            <a:p>
              <a:pPr algn="l" marL="0" indent="0" lvl="0">
                <a:lnSpc>
                  <a:spcPts val="3360"/>
                </a:lnSpc>
                <a:spcBef>
                  <a:spcPct val="0"/>
                </a:spcBef>
              </a:pPr>
              <a:r>
                <a:rPr lang="en-US" b="true" sz="2400">
                  <a:solidFill>
                    <a:srgbClr val="E8EAF6"/>
                  </a:solidFill>
                  <a:latin typeface="Clear Sans Medium"/>
                  <a:ea typeface="Clear Sans Medium"/>
                  <a:cs typeface="Clear Sans Medium"/>
                  <a:sym typeface="Clear Sans Medium"/>
                </a:rPr>
                <a:t>I</a:t>
              </a:r>
              <a:r>
                <a:rPr lang="en-US" b="true" sz="2400">
                  <a:solidFill>
                    <a:srgbClr val="E8EAF6"/>
                  </a:solidFill>
                  <a:latin typeface="Clear Sans Medium"/>
                  <a:ea typeface="Clear Sans Medium"/>
                  <a:cs typeface="Clear Sans Medium"/>
                  <a:sym typeface="Clear Sans Medium"/>
                </a:rPr>
                <a:t>NVESTMENT RECOMMENDATIONS</a:t>
              </a:r>
            </a:p>
          </p:txBody>
        </p:sp>
        <p:sp>
          <p:nvSpPr>
            <p:cNvPr name="TextBox 13" id="13"/>
            <p:cNvSpPr txBox="true"/>
            <p:nvPr/>
          </p:nvSpPr>
          <p:spPr>
            <a:xfrm rot="0">
              <a:off x="0" y="1146158"/>
              <a:ext cx="9182100" cy="146240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FFFFFF"/>
                  </a:solidFill>
                  <a:latin typeface="Clear Sans"/>
                  <a:ea typeface="Clear Sans"/>
                  <a:cs typeface="Clear Sans"/>
                  <a:sym typeface="Clear Sans"/>
                </a:rPr>
                <a:t>T</a:t>
              </a:r>
              <a:r>
                <a:rPr lang="en-US" sz="2100">
                  <a:solidFill>
                    <a:srgbClr val="FFFFFF"/>
                  </a:solidFill>
                  <a:latin typeface="Clear Sans"/>
                  <a:ea typeface="Clear Sans"/>
                  <a:cs typeface="Clear Sans"/>
                  <a:sym typeface="Clear Sans"/>
                </a:rPr>
                <a:t>he system will provide B</a:t>
              </a:r>
              <a:r>
                <a:rPr lang="en-US" sz="2100">
                  <a:solidFill>
                    <a:srgbClr val="FFFFFF"/>
                  </a:solidFill>
                  <a:latin typeface="Clear Sans"/>
                  <a:ea typeface="Clear Sans"/>
                  <a:cs typeface="Clear Sans"/>
                  <a:sym typeface="Clear Sans"/>
                </a:rPr>
                <a:t>uy</a:t>
              </a:r>
              <a:r>
                <a:rPr lang="en-US" sz="2100">
                  <a:solidFill>
                    <a:srgbClr val="FFFFFF"/>
                  </a:solidFill>
                  <a:latin typeface="Clear Sans"/>
                  <a:ea typeface="Clear Sans"/>
                  <a:cs typeface="Clear Sans"/>
                  <a:sym typeface="Clear Sans"/>
                </a:rPr>
                <a:t>,</a:t>
              </a:r>
              <a:r>
                <a:rPr lang="en-US" sz="2100">
                  <a:solidFill>
                    <a:srgbClr val="FFFFFF"/>
                  </a:solidFill>
                  <a:latin typeface="Clear Sans"/>
                  <a:ea typeface="Clear Sans"/>
                  <a:cs typeface="Clear Sans"/>
                  <a:sym typeface="Clear Sans"/>
                </a:rPr>
                <a:t> </a:t>
              </a:r>
              <a:r>
                <a:rPr lang="en-US" sz="2100">
                  <a:solidFill>
                    <a:srgbClr val="FFFFFF"/>
                  </a:solidFill>
                  <a:latin typeface="Clear Sans"/>
                  <a:ea typeface="Clear Sans"/>
                  <a:cs typeface="Clear Sans"/>
                  <a:sym typeface="Clear Sans"/>
                </a:rPr>
                <a:t>Sell, or Hold recommendations, helping investors optimize profits and minimize risks.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A237E"/>
        </a:solidFill>
      </p:bgPr>
    </p:bg>
    <p:spTree>
      <p:nvGrpSpPr>
        <p:cNvPr id="1" name=""/>
        <p:cNvGrpSpPr/>
        <p:nvPr/>
      </p:nvGrpSpPr>
      <p:grpSpPr>
        <a:xfrm>
          <a:off x="0" y="0"/>
          <a:ext cx="0" cy="0"/>
          <a:chOff x="0" y="0"/>
          <a:chExt cx="0" cy="0"/>
        </a:xfrm>
      </p:grpSpPr>
      <p:sp>
        <p:nvSpPr>
          <p:cNvPr name="Freeform 2" id="2"/>
          <p:cNvSpPr/>
          <p:nvPr/>
        </p:nvSpPr>
        <p:spPr>
          <a:xfrm flipH="false" flipV="false" rot="0">
            <a:off x="8427377" y="269920"/>
            <a:ext cx="9724999" cy="5368846"/>
          </a:xfrm>
          <a:custGeom>
            <a:avLst/>
            <a:gdLst/>
            <a:ahLst/>
            <a:cxnLst/>
            <a:rect r="r" b="b" t="t" l="l"/>
            <a:pathLst>
              <a:path h="5368846" w="9724999">
                <a:moveTo>
                  <a:pt x="0" y="0"/>
                </a:moveTo>
                <a:lnTo>
                  <a:pt x="9724998" y="0"/>
                </a:lnTo>
                <a:lnTo>
                  <a:pt x="9724998" y="5368846"/>
                </a:lnTo>
                <a:lnTo>
                  <a:pt x="0" y="5368846"/>
                </a:lnTo>
                <a:lnTo>
                  <a:pt x="0" y="0"/>
                </a:lnTo>
                <a:close/>
              </a:path>
            </a:pathLst>
          </a:custGeom>
          <a:blipFill>
            <a:blip r:embed="rId2"/>
            <a:stretch>
              <a:fillRect l="-3449" t="0" r="-6611" b="0"/>
            </a:stretch>
          </a:blipFill>
        </p:spPr>
      </p:sp>
      <p:grpSp>
        <p:nvGrpSpPr>
          <p:cNvPr name="Group 3" id="3"/>
          <p:cNvGrpSpPr/>
          <p:nvPr/>
        </p:nvGrpSpPr>
        <p:grpSpPr>
          <a:xfrm rot="0">
            <a:off x="0" y="269920"/>
            <a:ext cx="8427377" cy="8628046"/>
            <a:chOff x="0" y="0"/>
            <a:chExt cx="11236502" cy="11504062"/>
          </a:xfrm>
        </p:grpSpPr>
        <p:sp>
          <p:nvSpPr>
            <p:cNvPr name="TextBox 4" id="4"/>
            <p:cNvSpPr txBox="true"/>
            <p:nvPr/>
          </p:nvSpPr>
          <p:spPr>
            <a:xfrm rot="0">
              <a:off x="0" y="1913639"/>
              <a:ext cx="11236502" cy="52514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C5CAE9"/>
                  </a:solidFill>
                  <a:latin typeface="Clear Sans Bold"/>
                  <a:ea typeface="Clear Sans Bold"/>
                  <a:cs typeface="Clear Sans Bold"/>
                  <a:sym typeface="Clear Sans Bold"/>
                </a:rPr>
                <a:t>CLIENT-SERVER MODEL</a:t>
              </a:r>
            </a:p>
          </p:txBody>
        </p:sp>
        <p:sp>
          <p:nvSpPr>
            <p:cNvPr name="TextBox 5" id="5"/>
            <p:cNvSpPr txBox="true"/>
            <p:nvPr/>
          </p:nvSpPr>
          <p:spPr>
            <a:xfrm rot="0">
              <a:off x="0" y="3107457"/>
              <a:ext cx="11236502" cy="8396605"/>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FFFFFF"/>
                  </a:solidFill>
                  <a:latin typeface="Clear Sans"/>
                  <a:ea typeface="Clear Sans"/>
                  <a:cs typeface="Clear Sans"/>
                  <a:sym typeface="Clear Sans"/>
                </a:rPr>
                <a:t>The Multi-Agent system is built on a Client-Server model, ensuring scalability and efficient communication between components.</a:t>
              </a:r>
            </a:p>
            <a:p>
              <a:pPr algn="l" marL="453390" indent="-226695" lvl="1">
                <a:lnSpc>
                  <a:spcPts val="2940"/>
                </a:lnSpc>
                <a:buFont typeface="Arial"/>
                <a:buChar char="•"/>
              </a:pPr>
              <a:r>
                <a:rPr lang="en-US" sz="2100">
                  <a:solidFill>
                    <a:srgbClr val="FFFFFF"/>
                  </a:solidFill>
                  <a:latin typeface="Clear Sans"/>
                  <a:ea typeface="Clear Sans"/>
                  <a:cs typeface="Clear Sans"/>
                  <a:sym typeface="Clear Sans"/>
                </a:rPr>
                <a:t>Streamlit acts as the user interface (Client), displaying data, charts, and analysis results in a user-friendly and intuitive manner.</a:t>
              </a:r>
            </a:p>
            <a:p>
              <a:pPr algn="l" marL="453390" indent="-226695" lvl="1">
                <a:lnSpc>
                  <a:spcPts val="2940"/>
                </a:lnSpc>
                <a:buFont typeface="Arial"/>
                <a:buChar char="•"/>
              </a:pPr>
              <a:r>
                <a:rPr lang="en-US" sz="2100">
                  <a:solidFill>
                    <a:srgbClr val="FFFFFF"/>
                  </a:solidFill>
                  <a:latin typeface="Clear Sans"/>
                  <a:ea typeface="Clear Sans"/>
                  <a:cs typeface="Clear Sans"/>
                  <a:sym typeface="Clear Sans"/>
                </a:rPr>
                <a:t>FastAPI acts as the server, responsible for processing, managing, and providing data for analytical tasks.</a:t>
              </a:r>
            </a:p>
            <a:p>
              <a:pPr algn="l" marL="453390" indent="-226695" lvl="1">
                <a:lnSpc>
                  <a:spcPts val="2940"/>
                </a:lnSpc>
                <a:buFont typeface="Arial"/>
                <a:buChar char="•"/>
              </a:pPr>
              <a:r>
                <a:rPr lang="en-US" sz="2100">
                  <a:solidFill>
                    <a:srgbClr val="FFFFFF"/>
                  </a:solidFill>
                  <a:latin typeface="Clear Sans"/>
                  <a:ea typeface="Clear Sans"/>
                  <a:cs typeface="Clear Sans"/>
                  <a:sym typeface="Clear Sans"/>
                </a:rPr>
                <a:t>Agents in the system work in parallel to perform multiple tasks such as collecting real-time data, analyzing trends, predicting price movements, and generating intelligent reports.</a:t>
              </a:r>
            </a:p>
            <a:p>
              <a:pPr algn="l" marL="453390" indent="-226695" lvl="1">
                <a:lnSpc>
                  <a:spcPts val="2940"/>
                </a:lnSpc>
                <a:buFont typeface="Arial"/>
                <a:buChar char="•"/>
              </a:pPr>
              <a:r>
                <a:rPr lang="en-US" sz="2100">
                  <a:solidFill>
                    <a:srgbClr val="FFFFFF"/>
                  </a:solidFill>
                  <a:latin typeface="Clear Sans"/>
                  <a:ea typeface="Clear Sans"/>
                  <a:cs typeface="Clear Sans"/>
                  <a:sym typeface="Clear Sans"/>
                </a:rPr>
                <a:t>The integration of Streamlit and FastAPI enables the system to achieve high performance and fast processing speeds, while optimizing the process of collecting and analyzing stock market data.</a:t>
              </a:r>
            </a:p>
            <a:p>
              <a:pPr algn="l" marL="453390" indent="-226695" lvl="1">
                <a:lnSpc>
                  <a:spcPts val="2940"/>
                </a:lnSpc>
                <a:buFont typeface="Arial"/>
                <a:buChar char="•"/>
              </a:pPr>
              <a:r>
                <a:rPr lang="en-US" sz="2100">
                  <a:solidFill>
                    <a:srgbClr val="FFFFFF"/>
                  </a:solidFill>
                  <a:latin typeface="Clear Sans"/>
                  <a:ea typeface="Clear Sans"/>
                  <a:cs typeface="Clear Sans"/>
                  <a:sym typeface="Clear Sans"/>
                </a:rPr>
                <a:t>Thanks to its distributed and flexible architecture, the system supports accurate and timely investment decision-making and enhances the efficiency of market information management for investors.</a:t>
              </a:r>
            </a:p>
          </p:txBody>
        </p:sp>
        <p:sp>
          <p:nvSpPr>
            <p:cNvPr name="TextBox 6" id="6"/>
            <p:cNvSpPr txBox="true"/>
            <p:nvPr/>
          </p:nvSpPr>
          <p:spPr>
            <a:xfrm rot="0">
              <a:off x="0" y="-28575"/>
              <a:ext cx="11236502" cy="1438275"/>
            </a:xfrm>
            <a:prstGeom prst="rect">
              <a:avLst/>
            </a:prstGeom>
          </p:spPr>
          <p:txBody>
            <a:bodyPr anchor="t" rtlCol="false" tIns="0" lIns="0" bIns="0" rIns="0">
              <a:spAutoFit/>
            </a:bodyPr>
            <a:lstStyle/>
            <a:p>
              <a:pPr algn="l" marL="0" indent="0" lvl="0">
                <a:lnSpc>
                  <a:spcPts val="8399"/>
                </a:lnSpc>
              </a:pPr>
              <a:r>
                <a:rPr lang="en-US" sz="6999" spc="-139">
                  <a:solidFill>
                    <a:srgbClr val="FFFFFF"/>
                  </a:solidFill>
                  <a:latin typeface="Times New Roman"/>
                  <a:ea typeface="Times New Roman"/>
                  <a:cs typeface="Times New Roman"/>
                  <a:sym typeface="Times New Roman"/>
                </a:rPr>
                <a:t>Overall architecture</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83593"/>
        </a:solidFill>
      </p:bgPr>
    </p:bg>
    <p:spTree>
      <p:nvGrpSpPr>
        <p:cNvPr id="1" name=""/>
        <p:cNvGrpSpPr/>
        <p:nvPr/>
      </p:nvGrpSpPr>
      <p:grpSpPr>
        <a:xfrm>
          <a:off x="0" y="0"/>
          <a:ext cx="0" cy="0"/>
          <a:chOff x="0" y="0"/>
          <a:chExt cx="0" cy="0"/>
        </a:xfrm>
      </p:grpSpPr>
      <p:grpSp>
        <p:nvGrpSpPr>
          <p:cNvPr name="Group 2" id="2"/>
          <p:cNvGrpSpPr/>
          <p:nvPr/>
        </p:nvGrpSpPr>
        <p:grpSpPr>
          <a:xfrm rot="0">
            <a:off x="666750" y="4248150"/>
            <a:ext cx="5448300" cy="3581400"/>
            <a:chOff x="0" y="0"/>
            <a:chExt cx="1333267" cy="876413"/>
          </a:xfrm>
        </p:grpSpPr>
        <p:sp>
          <p:nvSpPr>
            <p:cNvPr name="Freeform 3" id="3"/>
            <p:cNvSpPr/>
            <p:nvPr/>
          </p:nvSpPr>
          <p:spPr>
            <a:xfrm flipH="false" flipV="false" rot="0">
              <a:off x="0" y="0"/>
              <a:ext cx="1333267" cy="876413"/>
            </a:xfrm>
            <a:custGeom>
              <a:avLst/>
              <a:gdLst/>
              <a:ahLst/>
              <a:cxnLst/>
              <a:rect r="r" b="b" t="t" l="l"/>
              <a:pathLst>
                <a:path h="876413" w="1333267">
                  <a:moveTo>
                    <a:pt x="0" y="0"/>
                  </a:moveTo>
                  <a:lnTo>
                    <a:pt x="1333267" y="0"/>
                  </a:lnTo>
                  <a:lnTo>
                    <a:pt x="1333267" y="876413"/>
                  </a:lnTo>
                  <a:lnTo>
                    <a:pt x="0" y="876413"/>
                  </a:lnTo>
                  <a:close/>
                </a:path>
              </a:pathLst>
            </a:custGeom>
            <a:blipFill>
              <a:blip r:embed="rId2"/>
              <a:stretch>
                <a:fillRect l="-83" t="0" r="-83" b="0"/>
              </a:stretch>
            </a:blipFill>
          </p:spPr>
        </p:sp>
      </p:grpSp>
      <p:grpSp>
        <p:nvGrpSpPr>
          <p:cNvPr name="Group 4" id="4"/>
          <p:cNvGrpSpPr/>
          <p:nvPr/>
        </p:nvGrpSpPr>
        <p:grpSpPr>
          <a:xfrm rot="0">
            <a:off x="6419850" y="4248150"/>
            <a:ext cx="5448300" cy="3581400"/>
            <a:chOff x="0" y="0"/>
            <a:chExt cx="1333267" cy="876413"/>
          </a:xfrm>
        </p:grpSpPr>
        <p:sp>
          <p:nvSpPr>
            <p:cNvPr name="Freeform 5" id="5"/>
            <p:cNvSpPr/>
            <p:nvPr/>
          </p:nvSpPr>
          <p:spPr>
            <a:xfrm flipH="false" flipV="false" rot="0">
              <a:off x="0" y="0"/>
              <a:ext cx="1333267" cy="876413"/>
            </a:xfrm>
            <a:custGeom>
              <a:avLst/>
              <a:gdLst/>
              <a:ahLst/>
              <a:cxnLst/>
              <a:rect r="r" b="b" t="t" l="l"/>
              <a:pathLst>
                <a:path h="876413" w="1333267">
                  <a:moveTo>
                    <a:pt x="0" y="0"/>
                  </a:moveTo>
                  <a:lnTo>
                    <a:pt x="1333267" y="0"/>
                  </a:lnTo>
                  <a:lnTo>
                    <a:pt x="1333267" y="876413"/>
                  </a:lnTo>
                  <a:lnTo>
                    <a:pt x="0" y="876413"/>
                  </a:lnTo>
                  <a:close/>
                </a:path>
              </a:pathLst>
            </a:custGeom>
            <a:blipFill>
              <a:blip r:embed="rId3"/>
              <a:stretch>
                <a:fillRect l="-83" t="0" r="-83" b="0"/>
              </a:stretch>
            </a:blipFill>
          </p:spPr>
        </p:sp>
      </p:grpSp>
      <p:grpSp>
        <p:nvGrpSpPr>
          <p:cNvPr name="Group 6" id="6"/>
          <p:cNvGrpSpPr/>
          <p:nvPr/>
        </p:nvGrpSpPr>
        <p:grpSpPr>
          <a:xfrm rot="0">
            <a:off x="12172950" y="4248150"/>
            <a:ext cx="5448300" cy="3581400"/>
            <a:chOff x="0" y="0"/>
            <a:chExt cx="1333267" cy="876413"/>
          </a:xfrm>
        </p:grpSpPr>
        <p:sp>
          <p:nvSpPr>
            <p:cNvPr name="Freeform 7" id="7"/>
            <p:cNvSpPr/>
            <p:nvPr/>
          </p:nvSpPr>
          <p:spPr>
            <a:xfrm flipH="false" flipV="false" rot="0">
              <a:off x="0" y="0"/>
              <a:ext cx="1333267" cy="876413"/>
            </a:xfrm>
            <a:custGeom>
              <a:avLst/>
              <a:gdLst/>
              <a:ahLst/>
              <a:cxnLst/>
              <a:rect r="r" b="b" t="t" l="l"/>
              <a:pathLst>
                <a:path h="876413" w="1333267">
                  <a:moveTo>
                    <a:pt x="0" y="0"/>
                  </a:moveTo>
                  <a:lnTo>
                    <a:pt x="1333267" y="0"/>
                  </a:lnTo>
                  <a:lnTo>
                    <a:pt x="1333267" y="876413"/>
                  </a:lnTo>
                  <a:lnTo>
                    <a:pt x="0" y="876413"/>
                  </a:lnTo>
                  <a:close/>
                </a:path>
              </a:pathLst>
            </a:custGeom>
            <a:blipFill>
              <a:blip r:embed="rId4"/>
              <a:stretch>
                <a:fillRect l="-83" t="0" r="-83" b="0"/>
              </a:stretch>
            </a:blipFill>
          </p:spPr>
        </p:sp>
      </p:grpSp>
      <p:grpSp>
        <p:nvGrpSpPr>
          <p:cNvPr name="Group 8" id="8"/>
          <p:cNvGrpSpPr/>
          <p:nvPr/>
        </p:nvGrpSpPr>
        <p:grpSpPr>
          <a:xfrm rot="0">
            <a:off x="668089" y="8366723"/>
            <a:ext cx="5446961" cy="882042"/>
            <a:chOff x="0" y="0"/>
            <a:chExt cx="7262615" cy="1176056"/>
          </a:xfrm>
        </p:grpSpPr>
        <p:sp>
          <p:nvSpPr>
            <p:cNvPr name="TextBox 9" id="9"/>
            <p:cNvSpPr txBox="true"/>
            <p:nvPr/>
          </p:nvSpPr>
          <p:spPr>
            <a:xfrm rot="0">
              <a:off x="0" y="-47625"/>
              <a:ext cx="7262615" cy="525145"/>
            </a:xfrm>
            <a:prstGeom prst="rect">
              <a:avLst/>
            </a:prstGeom>
          </p:spPr>
          <p:txBody>
            <a:bodyPr anchor="t" rtlCol="false" tIns="0" lIns="0" bIns="0" rIns="0">
              <a:spAutoFit/>
            </a:bodyPr>
            <a:lstStyle/>
            <a:p>
              <a:pPr algn="ctr" marL="0" indent="0" lvl="0">
                <a:lnSpc>
                  <a:spcPts val="3359"/>
                </a:lnSpc>
                <a:spcBef>
                  <a:spcPct val="0"/>
                </a:spcBef>
              </a:pPr>
              <a:r>
                <a:rPr lang="en-US" b="true" sz="2400" strike="noStrike" u="none">
                  <a:solidFill>
                    <a:srgbClr val="C5CAE9"/>
                  </a:solidFill>
                  <a:latin typeface="Clear Sans Medium"/>
                  <a:ea typeface="Clear Sans Medium"/>
                  <a:cs typeface="Clear Sans Medium"/>
                  <a:sym typeface="Clear Sans Medium"/>
                </a:rPr>
                <a:t>COLLECTORS</a:t>
              </a:r>
            </a:p>
          </p:txBody>
        </p:sp>
        <p:sp>
          <p:nvSpPr>
            <p:cNvPr name="TextBox 10" id="10"/>
            <p:cNvSpPr txBox="true"/>
            <p:nvPr/>
          </p:nvSpPr>
          <p:spPr>
            <a:xfrm rot="0">
              <a:off x="0" y="704251"/>
              <a:ext cx="7262615" cy="471805"/>
            </a:xfrm>
            <a:prstGeom prst="rect">
              <a:avLst/>
            </a:prstGeom>
          </p:spPr>
          <p:txBody>
            <a:bodyPr anchor="t" rtlCol="false" tIns="0" lIns="0" bIns="0" rIns="0">
              <a:spAutoFit/>
            </a:bodyPr>
            <a:lstStyle/>
            <a:p>
              <a:pPr algn="ctr" marL="0" indent="0" lvl="0">
                <a:lnSpc>
                  <a:spcPts val="2940"/>
                </a:lnSpc>
              </a:pPr>
              <a:r>
                <a:rPr lang="en-US" sz="2100">
                  <a:solidFill>
                    <a:srgbClr val="BBDEFB"/>
                  </a:solidFill>
                  <a:latin typeface="Clear Sans"/>
                  <a:ea typeface="Clear Sans"/>
                  <a:cs typeface="Clear Sans"/>
                  <a:sym typeface="Clear Sans"/>
                </a:rPr>
                <a:t>Collec</a:t>
              </a:r>
              <a:r>
                <a:rPr lang="en-US" sz="2100">
                  <a:solidFill>
                    <a:srgbClr val="BBDEFB"/>
                  </a:solidFill>
                  <a:latin typeface="Clear Sans"/>
                  <a:ea typeface="Clear Sans"/>
                  <a:cs typeface="Clear Sans"/>
                  <a:sym typeface="Clear Sans"/>
                </a:rPr>
                <a:t>t data from multiple sources.</a:t>
              </a:r>
            </a:p>
          </p:txBody>
        </p:sp>
      </p:grpSp>
      <p:grpSp>
        <p:nvGrpSpPr>
          <p:cNvPr name="Group 11" id="11"/>
          <p:cNvGrpSpPr/>
          <p:nvPr/>
        </p:nvGrpSpPr>
        <p:grpSpPr>
          <a:xfrm rot="0">
            <a:off x="6419850" y="8366723"/>
            <a:ext cx="5448300" cy="882093"/>
            <a:chOff x="0" y="0"/>
            <a:chExt cx="7264400" cy="1176124"/>
          </a:xfrm>
        </p:grpSpPr>
        <p:sp>
          <p:nvSpPr>
            <p:cNvPr name="TextBox 12" id="12"/>
            <p:cNvSpPr txBox="true"/>
            <p:nvPr/>
          </p:nvSpPr>
          <p:spPr>
            <a:xfrm rot="0">
              <a:off x="0" y="-47625"/>
              <a:ext cx="7264400" cy="525145"/>
            </a:xfrm>
            <a:prstGeom prst="rect">
              <a:avLst/>
            </a:prstGeom>
          </p:spPr>
          <p:txBody>
            <a:bodyPr anchor="t" rtlCol="false" tIns="0" lIns="0" bIns="0" rIns="0">
              <a:spAutoFit/>
            </a:bodyPr>
            <a:lstStyle/>
            <a:p>
              <a:pPr algn="ctr" marL="0" indent="0" lvl="0">
                <a:lnSpc>
                  <a:spcPts val="3359"/>
                </a:lnSpc>
                <a:spcBef>
                  <a:spcPct val="0"/>
                </a:spcBef>
              </a:pPr>
              <a:r>
                <a:rPr lang="en-US" b="true" sz="2400" strike="noStrike" u="none">
                  <a:solidFill>
                    <a:srgbClr val="C5CAE9"/>
                  </a:solidFill>
                  <a:latin typeface="Clear Sans Medium"/>
                  <a:ea typeface="Clear Sans Medium"/>
                  <a:cs typeface="Clear Sans Medium"/>
                  <a:sym typeface="Clear Sans Medium"/>
                </a:rPr>
                <a:t>ANALYSTS</a:t>
              </a:r>
            </a:p>
          </p:txBody>
        </p:sp>
        <p:sp>
          <p:nvSpPr>
            <p:cNvPr name="TextBox 13" id="13"/>
            <p:cNvSpPr txBox="true"/>
            <p:nvPr/>
          </p:nvSpPr>
          <p:spPr>
            <a:xfrm rot="0">
              <a:off x="0" y="704319"/>
              <a:ext cx="7264400" cy="471805"/>
            </a:xfrm>
            <a:prstGeom prst="rect">
              <a:avLst/>
            </a:prstGeom>
          </p:spPr>
          <p:txBody>
            <a:bodyPr anchor="t" rtlCol="false" tIns="0" lIns="0" bIns="0" rIns="0">
              <a:spAutoFit/>
            </a:bodyPr>
            <a:lstStyle/>
            <a:p>
              <a:pPr algn="ctr" marL="0" indent="0" lvl="0">
                <a:lnSpc>
                  <a:spcPts val="2940"/>
                </a:lnSpc>
              </a:pPr>
              <a:r>
                <a:rPr lang="en-US" sz="2100">
                  <a:solidFill>
                    <a:srgbClr val="BBDEFB"/>
                  </a:solidFill>
                  <a:latin typeface="Clear Sans"/>
                  <a:ea typeface="Clear Sans"/>
                  <a:cs typeface="Clear Sans"/>
                  <a:sym typeface="Clear Sans"/>
                </a:rPr>
                <a:t>Da</a:t>
              </a:r>
              <a:r>
                <a:rPr lang="en-US" sz="2100">
                  <a:solidFill>
                    <a:srgbClr val="BBDEFB"/>
                  </a:solidFill>
                  <a:latin typeface="Clear Sans"/>
                  <a:ea typeface="Clear Sans"/>
                  <a:cs typeface="Clear Sans"/>
                  <a:sym typeface="Clear Sans"/>
                </a:rPr>
                <a:t>ta analysis and trend prediction</a:t>
              </a:r>
            </a:p>
          </p:txBody>
        </p:sp>
      </p:grpSp>
      <p:grpSp>
        <p:nvGrpSpPr>
          <p:cNvPr name="Group 14" id="14"/>
          <p:cNvGrpSpPr/>
          <p:nvPr/>
        </p:nvGrpSpPr>
        <p:grpSpPr>
          <a:xfrm rot="0">
            <a:off x="12172950" y="8366774"/>
            <a:ext cx="5448300" cy="881991"/>
            <a:chOff x="0" y="0"/>
            <a:chExt cx="7264400" cy="1175988"/>
          </a:xfrm>
        </p:grpSpPr>
        <p:sp>
          <p:nvSpPr>
            <p:cNvPr name="TextBox 15" id="15"/>
            <p:cNvSpPr txBox="true"/>
            <p:nvPr/>
          </p:nvSpPr>
          <p:spPr>
            <a:xfrm rot="0">
              <a:off x="0" y="-47625"/>
              <a:ext cx="7264400" cy="525145"/>
            </a:xfrm>
            <a:prstGeom prst="rect">
              <a:avLst/>
            </a:prstGeom>
          </p:spPr>
          <p:txBody>
            <a:bodyPr anchor="t" rtlCol="false" tIns="0" lIns="0" bIns="0" rIns="0">
              <a:spAutoFit/>
            </a:bodyPr>
            <a:lstStyle/>
            <a:p>
              <a:pPr algn="ctr" marL="0" indent="0" lvl="0">
                <a:lnSpc>
                  <a:spcPts val="3359"/>
                </a:lnSpc>
                <a:spcBef>
                  <a:spcPct val="0"/>
                </a:spcBef>
              </a:pPr>
              <a:r>
                <a:rPr lang="en-US" b="true" sz="2400" strike="noStrike" u="none">
                  <a:solidFill>
                    <a:srgbClr val="C5CAE9"/>
                  </a:solidFill>
                  <a:latin typeface="Clear Sans Medium"/>
                  <a:ea typeface="Clear Sans Medium"/>
                  <a:cs typeface="Clear Sans Medium"/>
                  <a:sym typeface="Clear Sans Medium"/>
                </a:rPr>
                <a:t>MAINAGENT</a:t>
              </a:r>
            </a:p>
          </p:txBody>
        </p:sp>
        <p:sp>
          <p:nvSpPr>
            <p:cNvPr name="TextBox 16" id="16"/>
            <p:cNvSpPr txBox="true"/>
            <p:nvPr/>
          </p:nvSpPr>
          <p:spPr>
            <a:xfrm rot="0">
              <a:off x="0" y="704183"/>
              <a:ext cx="7264400" cy="471805"/>
            </a:xfrm>
            <a:prstGeom prst="rect">
              <a:avLst/>
            </a:prstGeom>
          </p:spPr>
          <p:txBody>
            <a:bodyPr anchor="t" rtlCol="false" tIns="0" lIns="0" bIns="0" rIns="0">
              <a:spAutoFit/>
            </a:bodyPr>
            <a:lstStyle/>
            <a:p>
              <a:pPr algn="ctr" marL="0" indent="0" lvl="0">
                <a:lnSpc>
                  <a:spcPts val="2940"/>
                </a:lnSpc>
              </a:pPr>
              <a:r>
                <a:rPr lang="en-US" sz="2100">
                  <a:solidFill>
                    <a:srgbClr val="BBDEFB"/>
                  </a:solidFill>
                  <a:latin typeface="Clear Sans"/>
                  <a:ea typeface="Clear Sans"/>
                  <a:cs typeface="Clear Sans"/>
                  <a:sym typeface="Clear Sans"/>
                </a:rPr>
                <a:t>Coord</a:t>
              </a:r>
              <a:r>
                <a:rPr lang="en-US" sz="2100">
                  <a:solidFill>
                    <a:srgbClr val="BBDEFB"/>
                  </a:solidFill>
                  <a:latin typeface="Clear Sans"/>
                  <a:ea typeface="Clear Sans"/>
                  <a:cs typeface="Clear Sans"/>
                  <a:sym typeface="Clear Sans"/>
                </a:rPr>
                <a:t>inate and manage system activities.</a:t>
              </a:r>
            </a:p>
          </p:txBody>
        </p:sp>
      </p:grpSp>
      <p:sp>
        <p:nvSpPr>
          <p:cNvPr name="TextBox 17" id="17"/>
          <p:cNvSpPr txBox="true"/>
          <p:nvPr/>
        </p:nvSpPr>
        <p:spPr>
          <a:xfrm rot="0">
            <a:off x="666750" y="1533525"/>
            <a:ext cx="14077950" cy="1085850"/>
          </a:xfrm>
          <a:prstGeom prst="rect">
            <a:avLst/>
          </a:prstGeom>
        </p:spPr>
        <p:txBody>
          <a:bodyPr anchor="t" rtlCol="false" tIns="0" lIns="0" bIns="0" rIns="0">
            <a:spAutoFit/>
          </a:bodyPr>
          <a:lstStyle/>
          <a:p>
            <a:pPr algn="l" marL="0" indent="0" lvl="0">
              <a:lnSpc>
                <a:spcPts val="8399"/>
              </a:lnSpc>
            </a:pPr>
            <a:r>
              <a:rPr lang="en-US" sz="6999" spc="-139">
                <a:solidFill>
                  <a:srgbClr val="FFFFFF"/>
                </a:solidFill>
                <a:latin typeface="Times New Roman"/>
                <a:ea typeface="Times New Roman"/>
                <a:cs typeface="Times New Roman"/>
                <a:sym typeface="Times New Roman"/>
              </a:rPr>
              <a:t>The</a:t>
            </a:r>
            <a:r>
              <a:rPr lang="en-US" sz="6999" spc="-139">
                <a:solidFill>
                  <a:srgbClr val="FFFFFF"/>
                </a:solidFill>
                <a:latin typeface="Times New Roman"/>
                <a:ea typeface="Times New Roman"/>
                <a:cs typeface="Times New Roman"/>
                <a:sym typeface="Times New Roman"/>
              </a:rPr>
              <a:t> main agents in a multi-agent system.</a:t>
            </a:r>
          </a:p>
        </p:txBody>
      </p:sp>
      <p:sp>
        <p:nvSpPr>
          <p:cNvPr name="Freeform 18" id="18"/>
          <p:cNvSpPr/>
          <p:nvPr/>
        </p:nvSpPr>
        <p:spPr>
          <a:xfrm flipH="false" flipV="false" rot="-6723923">
            <a:off x="13666568" y="-2297777"/>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949AB"/>
        </a:solidFill>
      </p:bgPr>
    </p:bg>
    <p:spTree>
      <p:nvGrpSpPr>
        <p:cNvPr id="1" name=""/>
        <p:cNvGrpSpPr/>
        <p:nvPr/>
      </p:nvGrpSpPr>
      <p:grpSpPr>
        <a:xfrm>
          <a:off x="0" y="0"/>
          <a:ext cx="0" cy="0"/>
          <a:chOff x="0" y="0"/>
          <a:chExt cx="0" cy="0"/>
        </a:xfrm>
      </p:grpSpPr>
      <p:sp>
        <p:nvSpPr>
          <p:cNvPr name="Freeform 2" id="2"/>
          <p:cNvSpPr/>
          <p:nvPr/>
        </p:nvSpPr>
        <p:spPr>
          <a:xfrm flipH="false" flipV="false" rot="0">
            <a:off x="7826601" y="389020"/>
            <a:ext cx="9113632" cy="5764372"/>
          </a:xfrm>
          <a:custGeom>
            <a:avLst/>
            <a:gdLst/>
            <a:ahLst/>
            <a:cxnLst/>
            <a:rect r="r" b="b" t="t" l="l"/>
            <a:pathLst>
              <a:path h="5764372" w="9113632">
                <a:moveTo>
                  <a:pt x="0" y="0"/>
                </a:moveTo>
                <a:lnTo>
                  <a:pt x="9113632" y="0"/>
                </a:lnTo>
                <a:lnTo>
                  <a:pt x="9113632" y="5764372"/>
                </a:lnTo>
                <a:lnTo>
                  <a:pt x="0" y="5764372"/>
                </a:lnTo>
                <a:lnTo>
                  <a:pt x="0" y="0"/>
                </a:lnTo>
                <a:close/>
              </a:path>
            </a:pathLst>
          </a:custGeom>
          <a:blipFill>
            <a:blip r:embed="rId2"/>
            <a:stretch>
              <a:fillRect l="0" t="0" r="0" b="0"/>
            </a:stretch>
          </a:blipFill>
        </p:spPr>
      </p:sp>
      <p:sp>
        <p:nvSpPr>
          <p:cNvPr name="TextBox 3" id="3"/>
          <p:cNvSpPr txBox="true"/>
          <p:nvPr/>
        </p:nvSpPr>
        <p:spPr>
          <a:xfrm rot="0">
            <a:off x="272579" y="-38100"/>
            <a:ext cx="6814096" cy="1066800"/>
          </a:xfrm>
          <a:prstGeom prst="rect">
            <a:avLst/>
          </a:prstGeom>
        </p:spPr>
        <p:txBody>
          <a:bodyPr anchor="t" rtlCol="false" tIns="0" lIns="0" bIns="0" rIns="0">
            <a:spAutoFit/>
          </a:bodyPr>
          <a:lstStyle/>
          <a:p>
            <a:pPr algn="ctr">
              <a:lnSpc>
                <a:spcPts val="8400"/>
              </a:lnSpc>
            </a:pPr>
            <a:r>
              <a:rPr lang="en-US" sz="6000" b="true">
                <a:solidFill>
                  <a:srgbClr val="FFFFFF"/>
                </a:solidFill>
                <a:latin typeface="Times New Roman Bold"/>
                <a:ea typeface="Times New Roman Bold"/>
                <a:cs typeface="Times New Roman Bold"/>
                <a:sym typeface="Times New Roman Bold"/>
              </a:rPr>
              <a:t>Data collection agent</a:t>
            </a:r>
          </a:p>
        </p:txBody>
      </p:sp>
      <p:sp>
        <p:nvSpPr>
          <p:cNvPr name="TextBox 4" id="4"/>
          <p:cNvSpPr txBox="true"/>
          <p:nvPr/>
        </p:nvSpPr>
        <p:spPr>
          <a:xfrm rot="0">
            <a:off x="0" y="1471616"/>
            <a:ext cx="7826601" cy="1799590"/>
          </a:xfrm>
          <a:prstGeom prst="rect">
            <a:avLst/>
          </a:prstGeom>
        </p:spPr>
        <p:txBody>
          <a:bodyPr anchor="t" rtlCol="false" tIns="0" lIns="0" bIns="0" rIns="0">
            <a:spAutoFit/>
          </a:bodyPr>
          <a:lstStyle/>
          <a:p>
            <a:pPr algn="l">
              <a:lnSpc>
                <a:spcPts val="4759"/>
              </a:lnSpc>
            </a:pPr>
            <a:r>
              <a:rPr lang="en-US" sz="3399">
                <a:solidFill>
                  <a:srgbClr val="FFFFFF"/>
                </a:solidFill>
                <a:latin typeface="Times New Roman"/>
                <a:ea typeface="Times New Roman"/>
                <a:cs typeface="Times New Roman"/>
                <a:sym typeface="Times New Roman"/>
              </a:rPr>
              <a:t>Function: Collec</a:t>
            </a:r>
            <a:r>
              <a:rPr lang="en-US" sz="3399">
                <a:solidFill>
                  <a:srgbClr val="FFFFFF"/>
                </a:solidFill>
                <a:latin typeface="Times New Roman"/>
                <a:ea typeface="Times New Roman"/>
                <a:cs typeface="Times New Roman"/>
                <a:sym typeface="Times New Roman"/>
              </a:rPr>
              <a:t>ts news data from sources such as CafeF, VietStock, VCI, and market data from VNStock API/ServerAI.</a:t>
            </a:r>
          </a:p>
        </p:txBody>
      </p:sp>
      <p:sp>
        <p:nvSpPr>
          <p:cNvPr name="TextBox 5" id="5"/>
          <p:cNvSpPr txBox="true"/>
          <p:nvPr/>
        </p:nvSpPr>
        <p:spPr>
          <a:xfrm rot="0">
            <a:off x="0" y="4156525"/>
            <a:ext cx="7826601" cy="5400040"/>
          </a:xfrm>
          <a:prstGeom prst="rect">
            <a:avLst/>
          </a:prstGeom>
        </p:spPr>
        <p:txBody>
          <a:bodyPr anchor="t" rtlCol="false" tIns="0" lIns="0" bIns="0" rIns="0">
            <a:spAutoFit/>
          </a:bodyPr>
          <a:lstStyle/>
          <a:p>
            <a:pPr algn="l">
              <a:lnSpc>
                <a:spcPts val="4759"/>
              </a:lnSpc>
            </a:pPr>
            <a:r>
              <a:rPr lang="en-US" sz="3399">
                <a:solidFill>
                  <a:srgbClr val="FFFFFF"/>
                </a:solidFill>
                <a:latin typeface="Times New Roman"/>
                <a:ea typeface="Times New Roman"/>
                <a:cs typeface="Times New Roman"/>
                <a:sym typeface="Times New Roman"/>
              </a:rPr>
              <a:t>Operating process:</a:t>
            </a:r>
          </a:p>
          <a:p>
            <a:pPr algn="l">
              <a:lnSpc>
                <a:spcPts val="4759"/>
              </a:lnSpc>
            </a:pPr>
            <a:r>
              <a:rPr lang="en-US" sz="3399">
                <a:solidFill>
                  <a:srgbClr val="FFFFFF"/>
                </a:solidFill>
                <a:latin typeface="Times New Roman"/>
                <a:ea typeface="Times New Roman"/>
                <a:cs typeface="Times New Roman"/>
                <a:sym typeface="Times New Roman"/>
              </a:rPr>
              <a:t>1. Connect to the data source (multi-source crawling).</a:t>
            </a:r>
          </a:p>
          <a:p>
            <a:pPr algn="l">
              <a:lnSpc>
                <a:spcPts val="4759"/>
              </a:lnSpc>
            </a:pPr>
          </a:p>
          <a:p>
            <a:pPr algn="l">
              <a:lnSpc>
                <a:spcPts val="4759"/>
              </a:lnSpc>
            </a:pPr>
            <a:r>
              <a:rPr lang="en-US" sz="3399">
                <a:solidFill>
                  <a:srgbClr val="FFFFFF"/>
                </a:solidFill>
                <a:latin typeface="Times New Roman"/>
                <a:ea typeface="Times New Roman"/>
                <a:cs typeface="Times New Roman"/>
                <a:sym typeface="Times New Roman"/>
              </a:rPr>
              <a:t>2. Filter and process data (sentiment analysis, risk-based filtering).</a:t>
            </a:r>
          </a:p>
          <a:p>
            <a:pPr algn="l">
              <a:lnSpc>
                <a:spcPts val="4759"/>
              </a:lnSpc>
            </a:pPr>
          </a:p>
          <a:p>
            <a:pPr algn="l">
              <a:lnSpc>
                <a:spcPts val="4759"/>
              </a:lnSpc>
            </a:pPr>
            <a:r>
              <a:rPr lang="en-US" sz="3399">
                <a:solidFill>
                  <a:srgbClr val="FFFFFF"/>
                </a:solidFill>
                <a:latin typeface="Times New Roman"/>
                <a:ea typeface="Times New Roman"/>
                <a:cs typeface="Times New Roman"/>
                <a:sym typeface="Times New Roman"/>
              </a:rPr>
              <a:t>3. Temporarily store data and transfer it to other agents.</a:t>
            </a:r>
          </a:p>
        </p:txBody>
      </p:sp>
      <p:sp>
        <p:nvSpPr>
          <p:cNvPr name="TextBox 6" id="6"/>
          <p:cNvSpPr txBox="true"/>
          <p:nvPr/>
        </p:nvSpPr>
        <p:spPr>
          <a:xfrm rot="0">
            <a:off x="10678897" y="6743006"/>
            <a:ext cx="4018657" cy="599440"/>
          </a:xfrm>
          <a:prstGeom prst="rect">
            <a:avLst/>
          </a:prstGeom>
        </p:spPr>
        <p:txBody>
          <a:bodyPr anchor="t" rtlCol="false" tIns="0" lIns="0" bIns="0" rIns="0">
            <a:spAutoFit/>
          </a:bodyPr>
          <a:lstStyle/>
          <a:p>
            <a:pPr algn="ctr">
              <a:lnSpc>
                <a:spcPts val="4759"/>
              </a:lnSpc>
            </a:pPr>
            <a:r>
              <a:rPr lang="en-US" sz="3399">
                <a:solidFill>
                  <a:srgbClr val="FFFFFF"/>
                </a:solidFill>
                <a:latin typeface="Times New Roman"/>
                <a:ea typeface="Times New Roman"/>
                <a:cs typeface="Times New Roman"/>
                <a:sym typeface="Times New Roman"/>
              </a:rPr>
              <a:t>Sơ đồ lớp và hoạt động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949AB"/>
        </a:solidFill>
      </p:bgPr>
    </p:bg>
    <p:spTree>
      <p:nvGrpSpPr>
        <p:cNvPr id="1" name=""/>
        <p:cNvGrpSpPr/>
        <p:nvPr/>
      </p:nvGrpSpPr>
      <p:grpSpPr>
        <a:xfrm>
          <a:off x="0" y="0"/>
          <a:ext cx="0" cy="0"/>
          <a:chOff x="0" y="0"/>
          <a:chExt cx="0" cy="0"/>
        </a:xfrm>
      </p:grpSpPr>
      <p:sp>
        <p:nvSpPr>
          <p:cNvPr name="Freeform 2" id="2"/>
          <p:cNvSpPr/>
          <p:nvPr/>
        </p:nvSpPr>
        <p:spPr>
          <a:xfrm flipH="false" flipV="false" rot="0">
            <a:off x="7402021" y="5305821"/>
            <a:ext cx="10703387" cy="4854260"/>
          </a:xfrm>
          <a:custGeom>
            <a:avLst/>
            <a:gdLst/>
            <a:ahLst/>
            <a:cxnLst/>
            <a:rect r="r" b="b" t="t" l="l"/>
            <a:pathLst>
              <a:path h="4854260" w="10703387">
                <a:moveTo>
                  <a:pt x="0" y="0"/>
                </a:moveTo>
                <a:lnTo>
                  <a:pt x="10703387" y="0"/>
                </a:lnTo>
                <a:lnTo>
                  <a:pt x="10703387" y="4854261"/>
                </a:lnTo>
                <a:lnTo>
                  <a:pt x="0" y="4854261"/>
                </a:lnTo>
                <a:lnTo>
                  <a:pt x="0" y="0"/>
                </a:lnTo>
                <a:close/>
              </a:path>
            </a:pathLst>
          </a:custGeom>
          <a:blipFill>
            <a:blip r:embed="rId2"/>
            <a:stretch>
              <a:fillRect l="0" t="0" r="0" b="0"/>
            </a:stretch>
          </a:blipFill>
        </p:spPr>
      </p:sp>
      <p:sp>
        <p:nvSpPr>
          <p:cNvPr name="Freeform 3" id="3"/>
          <p:cNvSpPr/>
          <p:nvPr/>
        </p:nvSpPr>
        <p:spPr>
          <a:xfrm flipH="false" flipV="false" rot="0">
            <a:off x="-378910" y="0"/>
            <a:ext cx="9522910" cy="5701842"/>
          </a:xfrm>
          <a:custGeom>
            <a:avLst/>
            <a:gdLst/>
            <a:ahLst/>
            <a:cxnLst/>
            <a:rect r="r" b="b" t="t" l="l"/>
            <a:pathLst>
              <a:path h="5701842" w="9522910">
                <a:moveTo>
                  <a:pt x="0" y="0"/>
                </a:moveTo>
                <a:lnTo>
                  <a:pt x="9522910" y="0"/>
                </a:lnTo>
                <a:lnTo>
                  <a:pt x="9522910" y="5701842"/>
                </a:lnTo>
                <a:lnTo>
                  <a:pt x="0" y="5701842"/>
                </a:lnTo>
                <a:lnTo>
                  <a:pt x="0" y="0"/>
                </a:lnTo>
                <a:close/>
              </a:path>
            </a:pathLst>
          </a:custGeom>
          <a:blipFill>
            <a:blip r:embed="rId3"/>
            <a:stretch>
              <a:fillRect l="0" t="0" r="0" b="0"/>
            </a:stretch>
          </a:blipFill>
        </p:spPr>
      </p:sp>
      <p:sp>
        <p:nvSpPr>
          <p:cNvPr name="TextBox 4" id="4"/>
          <p:cNvSpPr txBox="true"/>
          <p:nvPr/>
        </p:nvSpPr>
        <p:spPr>
          <a:xfrm rot="0">
            <a:off x="537567" y="7390369"/>
            <a:ext cx="6090196" cy="599440"/>
          </a:xfrm>
          <a:prstGeom prst="rect">
            <a:avLst/>
          </a:prstGeom>
        </p:spPr>
        <p:txBody>
          <a:bodyPr anchor="t" rtlCol="false" tIns="0" lIns="0" bIns="0" rIns="0">
            <a:spAutoFit/>
          </a:bodyPr>
          <a:lstStyle/>
          <a:p>
            <a:pPr algn="ctr">
              <a:lnSpc>
                <a:spcPts val="4759"/>
              </a:lnSpc>
            </a:pPr>
            <a:r>
              <a:rPr lang="en-US" sz="3399">
                <a:solidFill>
                  <a:srgbClr val="FFFFFF"/>
                </a:solidFill>
                <a:latin typeface="Times New Roman"/>
                <a:ea typeface="Times New Roman"/>
                <a:cs typeface="Times New Roman"/>
                <a:sym typeface="Times New Roman"/>
              </a:rPr>
              <a:t>Data collection agent state diagram</a:t>
            </a:r>
          </a:p>
        </p:txBody>
      </p:sp>
      <p:sp>
        <p:nvSpPr>
          <p:cNvPr name="TextBox 5" id="5"/>
          <p:cNvSpPr txBox="true"/>
          <p:nvPr/>
        </p:nvSpPr>
        <p:spPr>
          <a:xfrm rot="0">
            <a:off x="11902343" y="2508339"/>
            <a:ext cx="1702743" cy="599440"/>
          </a:xfrm>
          <a:prstGeom prst="rect">
            <a:avLst/>
          </a:prstGeom>
        </p:spPr>
        <p:txBody>
          <a:bodyPr anchor="t" rtlCol="false" tIns="0" lIns="0" bIns="0" rIns="0">
            <a:spAutoFit/>
          </a:bodyPr>
          <a:lstStyle/>
          <a:p>
            <a:pPr algn="ctr">
              <a:lnSpc>
                <a:spcPts val="4759"/>
              </a:lnSpc>
            </a:pPr>
            <a:r>
              <a:rPr lang="en-US" sz="3399">
                <a:solidFill>
                  <a:srgbClr val="FFFFFF"/>
                </a:solidFill>
                <a:latin typeface="Times New Roman"/>
                <a:ea typeface="Times New Roman"/>
                <a:cs typeface="Times New Roman"/>
                <a:sym typeface="Times New Roman"/>
              </a:rPr>
              <a:t>C4-level2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949AB"/>
        </a:solidFill>
      </p:bgPr>
    </p:bg>
    <p:spTree>
      <p:nvGrpSpPr>
        <p:cNvPr id="1" name=""/>
        <p:cNvGrpSpPr/>
        <p:nvPr/>
      </p:nvGrpSpPr>
      <p:grpSpPr>
        <a:xfrm>
          <a:off x="0" y="0"/>
          <a:ext cx="0" cy="0"/>
          <a:chOff x="0" y="0"/>
          <a:chExt cx="0" cy="0"/>
        </a:xfrm>
      </p:grpSpPr>
      <p:sp>
        <p:nvSpPr>
          <p:cNvPr name="Freeform 2" id="2"/>
          <p:cNvSpPr/>
          <p:nvPr/>
        </p:nvSpPr>
        <p:spPr>
          <a:xfrm flipH="false" flipV="false" rot="0">
            <a:off x="5863868" y="1856053"/>
            <a:ext cx="10703387" cy="5231623"/>
          </a:xfrm>
          <a:custGeom>
            <a:avLst/>
            <a:gdLst/>
            <a:ahLst/>
            <a:cxnLst/>
            <a:rect r="r" b="b" t="t" l="l"/>
            <a:pathLst>
              <a:path h="5231623" w="10703387">
                <a:moveTo>
                  <a:pt x="0" y="0"/>
                </a:moveTo>
                <a:lnTo>
                  <a:pt x="10703387" y="0"/>
                </a:lnTo>
                <a:lnTo>
                  <a:pt x="10703387" y="5231623"/>
                </a:lnTo>
                <a:lnTo>
                  <a:pt x="0" y="5231623"/>
                </a:lnTo>
                <a:lnTo>
                  <a:pt x="0" y="0"/>
                </a:lnTo>
                <a:close/>
              </a:path>
            </a:pathLst>
          </a:custGeom>
          <a:blipFill>
            <a:blip r:embed="rId2"/>
            <a:stretch>
              <a:fillRect l="0" t="0" r="0" b="0"/>
            </a:stretch>
          </a:blipFill>
        </p:spPr>
      </p:sp>
      <p:sp>
        <p:nvSpPr>
          <p:cNvPr name="TextBox 3" id="3"/>
          <p:cNvSpPr txBox="true"/>
          <p:nvPr/>
        </p:nvSpPr>
        <p:spPr>
          <a:xfrm rot="0">
            <a:off x="0" y="-38100"/>
            <a:ext cx="8686347" cy="1066800"/>
          </a:xfrm>
          <a:prstGeom prst="rect">
            <a:avLst/>
          </a:prstGeom>
        </p:spPr>
        <p:txBody>
          <a:bodyPr anchor="t" rtlCol="false" tIns="0" lIns="0" bIns="0" rIns="0">
            <a:spAutoFit/>
          </a:bodyPr>
          <a:lstStyle/>
          <a:p>
            <a:pPr algn="ctr">
              <a:lnSpc>
                <a:spcPts val="8400"/>
              </a:lnSpc>
            </a:pPr>
            <a:r>
              <a:rPr lang="en-US" sz="6000" b="true">
                <a:solidFill>
                  <a:srgbClr val="FFFFFF"/>
                </a:solidFill>
                <a:latin typeface="Times New Roman Bold"/>
                <a:ea typeface="Times New Roman Bold"/>
                <a:cs typeface="Times New Roman Bold"/>
                <a:sym typeface="Times New Roman Bold"/>
              </a:rPr>
              <a:t>Data Analyst Agent</a:t>
            </a:r>
          </a:p>
        </p:txBody>
      </p:sp>
      <p:sp>
        <p:nvSpPr>
          <p:cNvPr name="TextBox 4" id="4"/>
          <p:cNvSpPr txBox="true"/>
          <p:nvPr/>
        </p:nvSpPr>
        <p:spPr>
          <a:xfrm rot="0">
            <a:off x="0" y="1457960"/>
            <a:ext cx="5293263" cy="78003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FFFFF"/>
                </a:solidFill>
                <a:latin typeface="Times New Roman"/>
                <a:ea typeface="Times New Roman"/>
                <a:cs typeface="Times New Roman"/>
                <a:sym typeface="Times New Roman"/>
              </a:rPr>
              <a:t>Fu</a:t>
            </a:r>
            <a:r>
              <a:rPr lang="en-US" sz="3399">
                <a:solidFill>
                  <a:srgbClr val="FFFFFF"/>
                </a:solidFill>
                <a:latin typeface="Times New Roman"/>
                <a:ea typeface="Times New Roman"/>
                <a:cs typeface="Times New Roman"/>
                <a:sym typeface="Times New Roman"/>
              </a:rPr>
              <a:t>nctions:</a:t>
            </a:r>
          </a:p>
          <a:p>
            <a:pPr algn="l" marL="734059" indent="-367030" lvl="1">
              <a:lnSpc>
                <a:spcPts val="4759"/>
              </a:lnSpc>
              <a:buFont typeface="Arial"/>
              <a:buChar char="•"/>
            </a:pPr>
            <a:r>
              <a:rPr lang="en-US" sz="3399">
                <a:solidFill>
                  <a:srgbClr val="FFFFFF"/>
                </a:solidFill>
                <a:latin typeface="Times New Roman"/>
                <a:ea typeface="Times New Roman"/>
                <a:cs typeface="Times New Roman"/>
                <a:sym typeface="Times New Roman"/>
              </a:rPr>
              <a:t>PricePredictor: Predicts stock prices using LSTM Neural Network and technical analysis.</a:t>
            </a:r>
          </a:p>
          <a:p>
            <a:pPr algn="l" marL="734059" indent="-367030" lvl="1">
              <a:lnSpc>
                <a:spcPts val="4759"/>
              </a:lnSpc>
              <a:buFont typeface="Arial"/>
              <a:buChar char="•"/>
            </a:pPr>
            <a:r>
              <a:rPr lang="en-US" sz="3399">
                <a:solidFill>
                  <a:srgbClr val="FFFFFF"/>
                </a:solidFill>
                <a:latin typeface="Times New Roman"/>
                <a:ea typeface="Times New Roman"/>
                <a:cs typeface="Times New Roman"/>
                <a:sym typeface="Times New Roman"/>
              </a:rPr>
              <a:t>InvestmentExpert: Performs fundamental analysis (P/E, P/B) and provides recommendations (BUY/SELL/HOLD).</a:t>
            </a:r>
          </a:p>
          <a:p>
            <a:pPr algn="l">
              <a:lnSpc>
                <a:spcPts val="4759"/>
              </a:lnSpc>
            </a:pPr>
            <a:r>
              <a:rPr lang="en-US" sz="3399">
                <a:solidFill>
                  <a:srgbClr val="FFFFFF"/>
                </a:solidFill>
                <a:latin typeface="Times New Roman"/>
                <a:ea typeface="Times New Roman"/>
                <a:cs typeface="Times New Roman"/>
                <a:sym typeface="Times New Roman"/>
              </a:rPr>
              <a:t>RiskExpert: Assesses risk (VaR, Beta, Sharpe ratio).</a:t>
            </a:r>
          </a:p>
        </p:txBody>
      </p:sp>
      <p:sp>
        <p:nvSpPr>
          <p:cNvPr name="TextBox 5" id="5"/>
          <p:cNvSpPr txBox="true"/>
          <p:nvPr/>
        </p:nvSpPr>
        <p:spPr>
          <a:xfrm rot="0">
            <a:off x="7602074" y="7309445"/>
            <a:ext cx="6211788" cy="599440"/>
          </a:xfrm>
          <a:prstGeom prst="rect">
            <a:avLst/>
          </a:prstGeom>
        </p:spPr>
        <p:txBody>
          <a:bodyPr anchor="t" rtlCol="false" tIns="0" lIns="0" bIns="0" rIns="0">
            <a:spAutoFit/>
          </a:bodyPr>
          <a:lstStyle/>
          <a:p>
            <a:pPr algn="ctr">
              <a:lnSpc>
                <a:spcPts val="4759"/>
              </a:lnSpc>
            </a:pPr>
            <a:r>
              <a:rPr lang="en-US" sz="3399">
                <a:solidFill>
                  <a:srgbClr val="FFFFFF"/>
                </a:solidFill>
                <a:latin typeface="Times New Roman"/>
                <a:ea typeface="Times New Roman"/>
                <a:cs typeface="Times New Roman"/>
                <a:sym typeface="Times New Roman"/>
              </a:rPr>
              <a:t>Data Analysis Agent Class Diagram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949AB"/>
        </a:solidFill>
      </p:bgPr>
    </p:bg>
    <p:spTree>
      <p:nvGrpSpPr>
        <p:cNvPr id="1" name=""/>
        <p:cNvGrpSpPr/>
        <p:nvPr/>
      </p:nvGrpSpPr>
      <p:grpSpPr>
        <a:xfrm>
          <a:off x="0" y="0"/>
          <a:ext cx="0" cy="0"/>
          <a:chOff x="0" y="0"/>
          <a:chExt cx="0" cy="0"/>
        </a:xfrm>
      </p:grpSpPr>
      <p:sp>
        <p:nvSpPr>
          <p:cNvPr name="Freeform 2" id="2"/>
          <p:cNvSpPr/>
          <p:nvPr/>
        </p:nvSpPr>
        <p:spPr>
          <a:xfrm flipH="false" flipV="false" rot="0">
            <a:off x="179913" y="1345902"/>
            <a:ext cx="8964087" cy="5458899"/>
          </a:xfrm>
          <a:custGeom>
            <a:avLst/>
            <a:gdLst/>
            <a:ahLst/>
            <a:cxnLst/>
            <a:rect r="r" b="b" t="t" l="l"/>
            <a:pathLst>
              <a:path h="5458899" w="8964087">
                <a:moveTo>
                  <a:pt x="0" y="0"/>
                </a:moveTo>
                <a:lnTo>
                  <a:pt x="8964087" y="0"/>
                </a:lnTo>
                <a:lnTo>
                  <a:pt x="8964087" y="5458899"/>
                </a:lnTo>
                <a:lnTo>
                  <a:pt x="0" y="5458899"/>
                </a:lnTo>
                <a:lnTo>
                  <a:pt x="0" y="0"/>
                </a:lnTo>
                <a:close/>
              </a:path>
            </a:pathLst>
          </a:custGeom>
          <a:blipFill>
            <a:blip r:embed="rId2"/>
            <a:stretch>
              <a:fillRect l="0" t="0" r="0" b="0"/>
            </a:stretch>
          </a:blipFill>
        </p:spPr>
      </p:sp>
      <p:sp>
        <p:nvSpPr>
          <p:cNvPr name="Freeform 3" id="3"/>
          <p:cNvSpPr/>
          <p:nvPr/>
        </p:nvSpPr>
        <p:spPr>
          <a:xfrm flipH="false" flipV="false" rot="0">
            <a:off x="9871639" y="1223259"/>
            <a:ext cx="5989395" cy="5704186"/>
          </a:xfrm>
          <a:custGeom>
            <a:avLst/>
            <a:gdLst/>
            <a:ahLst/>
            <a:cxnLst/>
            <a:rect r="r" b="b" t="t" l="l"/>
            <a:pathLst>
              <a:path h="5704186" w="5989395">
                <a:moveTo>
                  <a:pt x="0" y="0"/>
                </a:moveTo>
                <a:lnTo>
                  <a:pt x="5989395" y="0"/>
                </a:lnTo>
                <a:lnTo>
                  <a:pt x="5989395" y="5704185"/>
                </a:lnTo>
                <a:lnTo>
                  <a:pt x="0" y="5704185"/>
                </a:lnTo>
                <a:lnTo>
                  <a:pt x="0" y="0"/>
                </a:lnTo>
                <a:close/>
              </a:path>
            </a:pathLst>
          </a:custGeom>
          <a:blipFill>
            <a:blip r:embed="rId3"/>
            <a:stretch>
              <a:fillRect l="0" t="0" r="0" b="0"/>
            </a:stretch>
          </a:blipFill>
        </p:spPr>
      </p:sp>
      <p:sp>
        <p:nvSpPr>
          <p:cNvPr name="TextBox 4" id="4"/>
          <p:cNvSpPr txBox="true"/>
          <p:nvPr/>
        </p:nvSpPr>
        <p:spPr>
          <a:xfrm rot="0">
            <a:off x="1102371" y="-38100"/>
            <a:ext cx="6308080" cy="1066800"/>
          </a:xfrm>
          <a:prstGeom prst="rect">
            <a:avLst/>
          </a:prstGeom>
        </p:spPr>
        <p:txBody>
          <a:bodyPr anchor="t" rtlCol="false" tIns="0" lIns="0" bIns="0" rIns="0">
            <a:spAutoFit/>
          </a:bodyPr>
          <a:lstStyle/>
          <a:p>
            <a:pPr algn="ctr">
              <a:lnSpc>
                <a:spcPts val="8400"/>
              </a:lnSpc>
              <a:spcBef>
                <a:spcPct val="0"/>
              </a:spcBef>
            </a:pPr>
            <a:r>
              <a:rPr lang="en-US" b="true" sz="6000">
                <a:solidFill>
                  <a:srgbClr val="FFFFFF"/>
                </a:solidFill>
                <a:latin typeface="Times New Roman Bold"/>
                <a:ea typeface="Times New Roman Bold"/>
                <a:cs typeface="Times New Roman Bold"/>
                <a:sym typeface="Times New Roman Bold"/>
              </a:rPr>
              <a:t>Data </a:t>
            </a:r>
            <a:r>
              <a:rPr lang="en-US" b="true" sz="6000">
                <a:solidFill>
                  <a:srgbClr val="FFFFFF"/>
                </a:solidFill>
                <a:latin typeface="Times New Roman Bold"/>
                <a:ea typeface="Times New Roman Bold"/>
                <a:cs typeface="Times New Roman Bold"/>
                <a:sym typeface="Times New Roman Bold"/>
              </a:rPr>
              <a:t>Analyst Agent</a:t>
            </a:r>
          </a:p>
        </p:txBody>
      </p:sp>
      <p:sp>
        <p:nvSpPr>
          <p:cNvPr name="TextBox 5" id="5"/>
          <p:cNvSpPr txBox="true"/>
          <p:nvPr/>
        </p:nvSpPr>
        <p:spPr>
          <a:xfrm rot="0">
            <a:off x="2893991" y="7156044"/>
            <a:ext cx="11593711" cy="599440"/>
          </a:xfrm>
          <a:prstGeom prst="rect">
            <a:avLst/>
          </a:prstGeom>
        </p:spPr>
        <p:txBody>
          <a:bodyPr anchor="t" rtlCol="false" tIns="0" lIns="0" bIns="0" rIns="0">
            <a:spAutoFit/>
          </a:bodyPr>
          <a:lstStyle/>
          <a:p>
            <a:pPr algn="ctr">
              <a:lnSpc>
                <a:spcPts val="4759"/>
              </a:lnSpc>
            </a:pPr>
            <a:r>
              <a:rPr lang="en-US" sz="3399">
                <a:solidFill>
                  <a:srgbClr val="FFFFFF"/>
                </a:solidFill>
                <a:latin typeface="Times New Roman"/>
                <a:ea typeface="Times New Roman"/>
                <a:cs typeface="Times New Roman"/>
                <a:sym typeface="Times New Roman"/>
              </a:rPr>
              <a:t>Flowchart of the sequence and operation of the data analysis agent.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949AB"/>
        </a:solidFill>
      </p:bgPr>
    </p:bg>
    <p:spTree>
      <p:nvGrpSpPr>
        <p:cNvPr id="1" name=""/>
        <p:cNvGrpSpPr/>
        <p:nvPr/>
      </p:nvGrpSpPr>
      <p:grpSpPr>
        <a:xfrm>
          <a:off x="0" y="0"/>
          <a:ext cx="0" cy="0"/>
          <a:chOff x="0" y="0"/>
          <a:chExt cx="0" cy="0"/>
        </a:xfrm>
      </p:grpSpPr>
      <p:sp>
        <p:nvSpPr>
          <p:cNvPr name="Freeform 2" id="2"/>
          <p:cNvSpPr/>
          <p:nvPr/>
        </p:nvSpPr>
        <p:spPr>
          <a:xfrm flipH="false" flipV="false" rot="0">
            <a:off x="6555913" y="1159524"/>
            <a:ext cx="10703387" cy="2195567"/>
          </a:xfrm>
          <a:custGeom>
            <a:avLst/>
            <a:gdLst/>
            <a:ahLst/>
            <a:cxnLst/>
            <a:rect r="r" b="b" t="t" l="l"/>
            <a:pathLst>
              <a:path h="2195567" w="10703387">
                <a:moveTo>
                  <a:pt x="0" y="0"/>
                </a:moveTo>
                <a:lnTo>
                  <a:pt x="10703387" y="0"/>
                </a:lnTo>
                <a:lnTo>
                  <a:pt x="10703387" y="2195566"/>
                </a:lnTo>
                <a:lnTo>
                  <a:pt x="0" y="2195566"/>
                </a:lnTo>
                <a:lnTo>
                  <a:pt x="0" y="0"/>
                </a:lnTo>
                <a:close/>
              </a:path>
            </a:pathLst>
          </a:custGeom>
          <a:blipFill>
            <a:blip r:embed="rId2"/>
            <a:stretch>
              <a:fillRect l="0" t="0" r="0" b="0"/>
            </a:stretch>
          </a:blipFill>
        </p:spPr>
      </p:sp>
      <p:sp>
        <p:nvSpPr>
          <p:cNvPr name="Freeform 3" id="3"/>
          <p:cNvSpPr/>
          <p:nvPr/>
        </p:nvSpPr>
        <p:spPr>
          <a:xfrm flipH="false" flipV="false" rot="0">
            <a:off x="6555913" y="3488440"/>
            <a:ext cx="5889339" cy="5889339"/>
          </a:xfrm>
          <a:custGeom>
            <a:avLst/>
            <a:gdLst/>
            <a:ahLst/>
            <a:cxnLst/>
            <a:rect r="r" b="b" t="t" l="l"/>
            <a:pathLst>
              <a:path h="5889339" w="5889339">
                <a:moveTo>
                  <a:pt x="0" y="0"/>
                </a:moveTo>
                <a:lnTo>
                  <a:pt x="5889339" y="0"/>
                </a:lnTo>
                <a:lnTo>
                  <a:pt x="5889339" y="5889339"/>
                </a:lnTo>
                <a:lnTo>
                  <a:pt x="0" y="5889339"/>
                </a:lnTo>
                <a:lnTo>
                  <a:pt x="0" y="0"/>
                </a:lnTo>
                <a:close/>
              </a:path>
            </a:pathLst>
          </a:custGeom>
          <a:blipFill>
            <a:blip r:embed="rId3"/>
            <a:stretch>
              <a:fillRect l="0" t="0" r="0" b="0"/>
            </a:stretch>
          </a:blipFill>
        </p:spPr>
      </p:sp>
      <p:sp>
        <p:nvSpPr>
          <p:cNvPr name="TextBox 4" id="4"/>
          <p:cNvSpPr txBox="true"/>
          <p:nvPr/>
        </p:nvSpPr>
        <p:spPr>
          <a:xfrm rot="0">
            <a:off x="0" y="-19050"/>
            <a:ext cx="15604312" cy="892175"/>
          </a:xfrm>
          <a:prstGeom prst="rect">
            <a:avLst/>
          </a:prstGeom>
        </p:spPr>
        <p:txBody>
          <a:bodyPr anchor="t" rtlCol="false" tIns="0" lIns="0" bIns="0" rIns="0">
            <a:spAutoFit/>
          </a:bodyPr>
          <a:lstStyle/>
          <a:p>
            <a:pPr algn="ctr">
              <a:lnSpc>
                <a:spcPts val="7000"/>
              </a:lnSpc>
              <a:spcBef>
                <a:spcPct val="0"/>
              </a:spcBef>
            </a:pPr>
            <a:r>
              <a:rPr lang="en-US" b="true" sz="5000">
                <a:solidFill>
                  <a:srgbClr val="FFFFFF"/>
                </a:solidFill>
                <a:latin typeface="Times New Roman Bold"/>
                <a:ea typeface="Times New Roman Bold"/>
                <a:cs typeface="Times New Roman Bold"/>
                <a:sym typeface="Times New Roman Bold"/>
              </a:rPr>
              <a:t>Commu</a:t>
            </a:r>
            <a:r>
              <a:rPr lang="en-US" b="true" sz="5000">
                <a:solidFill>
                  <a:srgbClr val="FFFFFF"/>
                </a:solidFill>
                <a:latin typeface="Times New Roman Bold"/>
                <a:ea typeface="Times New Roman Bold"/>
                <a:cs typeface="Times New Roman Bold"/>
                <a:sym typeface="Times New Roman Bold"/>
              </a:rPr>
              <a:t>nication &amp; Collaboration Agent</a:t>
            </a:r>
          </a:p>
        </p:txBody>
      </p:sp>
      <p:sp>
        <p:nvSpPr>
          <p:cNvPr name="TextBox 5" id="5"/>
          <p:cNvSpPr txBox="true"/>
          <p:nvPr/>
        </p:nvSpPr>
        <p:spPr>
          <a:xfrm rot="0">
            <a:off x="0" y="2200157"/>
            <a:ext cx="6555913" cy="460629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FFFFFF"/>
                </a:solidFill>
                <a:latin typeface="Times New Roman"/>
                <a:ea typeface="Times New Roman"/>
                <a:cs typeface="Times New Roman"/>
                <a:sym typeface="Times New Roman"/>
              </a:rPr>
              <a:t>Info</a:t>
            </a:r>
            <a:r>
              <a:rPr lang="en-US" sz="2400">
                <a:solidFill>
                  <a:srgbClr val="FFFFFF"/>
                </a:solidFill>
                <a:latin typeface="Times New Roman"/>
                <a:ea typeface="Times New Roman"/>
                <a:cs typeface="Times New Roman"/>
                <a:sym typeface="Times New Roman"/>
              </a:rPr>
              <a:t>rmation exchange mechanism: FastAPI endpoints are used to transmit data between agents and the user interface. MainAgent acts as an orchestrator, coordinating tasks between agents.</a:t>
            </a:r>
          </a:p>
          <a:p>
            <a:pPr algn="l" marL="518160" indent="-259080" lvl="1">
              <a:lnSpc>
                <a:spcPts val="3359"/>
              </a:lnSpc>
              <a:buFont typeface="Arial"/>
              <a:buChar char="•"/>
            </a:pPr>
            <a:r>
              <a:rPr lang="en-US" sz="2400">
                <a:solidFill>
                  <a:srgbClr val="FFFFFF"/>
                </a:solidFill>
                <a:latin typeface="Times New Roman"/>
                <a:ea typeface="Times New Roman"/>
                <a:cs typeface="Times New Roman"/>
                <a:sym typeface="Times New Roman"/>
              </a:rPr>
              <a:t>Task coordination: MainAgent receives requests from the User (UI) and assigns tasks to the appropriate agents.</a:t>
            </a:r>
          </a:p>
          <a:p>
            <a:pPr algn="l" marL="518160" indent="-259080" lvl="1">
              <a:lnSpc>
                <a:spcPts val="3359"/>
              </a:lnSpc>
              <a:buFont typeface="Arial"/>
              <a:buChar char="•"/>
            </a:pPr>
            <a:r>
              <a:rPr lang="en-US" sz="2400">
                <a:solidFill>
                  <a:srgbClr val="FFFFFF"/>
                </a:solidFill>
                <a:latin typeface="Times New Roman"/>
                <a:ea typeface="Times New Roman"/>
                <a:cs typeface="Times New Roman"/>
                <a:sym typeface="Times New Roman"/>
              </a:rPr>
              <a:t>Gemini AI supports chatbots with intelligent responses and offline fallback capabilities, communicating via API or internal mode.</a:t>
            </a:r>
          </a:p>
        </p:txBody>
      </p:sp>
      <p:sp>
        <p:nvSpPr>
          <p:cNvPr name="TextBox 6" id="6"/>
          <p:cNvSpPr txBox="true"/>
          <p:nvPr/>
        </p:nvSpPr>
        <p:spPr>
          <a:xfrm rot="0">
            <a:off x="6555913" y="9292054"/>
            <a:ext cx="7831427" cy="599440"/>
          </a:xfrm>
          <a:prstGeom prst="rect">
            <a:avLst/>
          </a:prstGeom>
        </p:spPr>
        <p:txBody>
          <a:bodyPr anchor="t" rtlCol="false" tIns="0" lIns="0" bIns="0" rIns="0">
            <a:spAutoFit/>
          </a:bodyPr>
          <a:lstStyle/>
          <a:p>
            <a:pPr algn="ctr">
              <a:lnSpc>
                <a:spcPts val="4759"/>
              </a:lnSpc>
            </a:pPr>
            <a:r>
              <a:rPr lang="en-US" sz="3399">
                <a:solidFill>
                  <a:srgbClr val="FFFFFF"/>
                </a:solidFill>
                <a:latin typeface="Times New Roman"/>
                <a:ea typeface="Times New Roman"/>
                <a:cs typeface="Times New Roman"/>
                <a:sym typeface="Times New Roman"/>
              </a:rPr>
              <a:t>sơ đồ lớp và hoạt động của Agent Hợp tác</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949AB"/>
        </a:solidFill>
      </p:bgPr>
    </p:bg>
    <p:spTree>
      <p:nvGrpSpPr>
        <p:cNvPr id="1" name=""/>
        <p:cNvGrpSpPr/>
        <p:nvPr/>
      </p:nvGrpSpPr>
      <p:grpSpPr>
        <a:xfrm>
          <a:off x="0" y="0"/>
          <a:ext cx="0" cy="0"/>
          <a:chOff x="0" y="0"/>
          <a:chExt cx="0" cy="0"/>
        </a:xfrm>
      </p:grpSpPr>
      <p:sp>
        <p:nvSpPr>
          <p:cNvPr name="Freeform 2" id="2"/>
          <p:cNvSpPr/>
          <p:nvPr/>
        </p:nvSpPr>
        <p:spPr>
          <a:xfrm flipH="false" flipV="false" rot="0">
            <a:off x="11798662" y="1474917"/>
            <a:ext cx="5113218" cy="6301385"/>
          </a:xfrm>
          <a:custGeom>
            <a:avLst/>
            <a:gdLst/>
            <a:ahLst/>
            <a:cxnLst/>
            <a:rect r="r" b="b" t="t" l="l"/>
            <a:pathLst>
              <a:path h="6301385" w="5113218">
                <a:moveTo>
                  <a:pt x="0" y="0"/>
                </a:moveTo>
                <a:lnTo>
                  <a:pt x="5113218" y="0"/>
                </a:lnTo>
                <a:lnTo>
                  <a:pt x="5113218" y="6301385"/>
                </a:lnTo>
                <a:lnTo>
                  <a:pt x="0" y="6301385"/>
                </a:lnTo>
                <a:lnTo>
                  <a:pt x="0" y="0"/>
                </a:lnTo>
                <a:close/>
              </a:path>
            </a:pathLst>
          </a:custGeom>
          <a:blipFill>
            <a:blip r:embed="rId2"/>
            <a:stretch>
              <a:fillRect l="0" t="0" r="0" b="0"/>
            </a:stretch>
          </a:blipFill>
        </p:spPr>
      </p:sp>
      <p:sp>
        <p:nvSpPr>
          <p:cNvPr name="Freeform 3" id="3"/>
          <p:cNvSpPr/>
          <p:nvPr/>
        </p:nvSpPr>
        <p:spPr>
          <a:xfrm flipH="false" flipV="false" rot="0">
            <a:off x="0" y="1474917"/>
            <a:ext cx="10703387" cy="5060095"/>
          </a:xfrm>
          <a:custGeom>
            <a:avLst/>
            <a:gdLst/>
            <a:ahLst/>
            <a:cxnLst/>
            <a:rect r="r" b="b" t="t" l="l"/>
            <a:pathLst>
              <a:path h="5060095" w="10703387">
                <a:moveTo>
                  <a:pt x="0" y="0"/>
                </a:moveTo>
                <a:lnTo>
                  <a:pt x="10703387" y="0"/>
                </a:lnTo>
                <a:lnTo>
                  <a:pt x="10703387" y="5060095"/>
                </a:lnTo>
                <a:lnTo>
                  <a:pt x="0" y="5060095"/>
                </a:lnTo>
                <a:lnTo>
                  <a:pt x="0" y="0"/>
                </a:lnTo>
                <a:close/>
              </a:path>
            </a:pathLst>
          </a:custGeom>
          <a:blipFill>
            <a:blip r:embed="rId3"/>
            <a:stretch>
              <a:fillRect l="0" t="0" r="0" b="0"/>
            </a:stretch>
          </a:blipFill>
        </p:spPr>
      </p:sp>
      <p:sp>
        <p:nvSpPr>
          <p:cNvPr name="TextBox 4" id="4"/>
          <p:cNvSpPr txBox="true"/>
          <p:nvPr/>
        </p:nvSpPr>
        <p:spPr>
          <a:xfrm rot="0">
            <a:off x="0" y="-38100"/>
            <a:ext cx="14355271" cy="1066800"/>
          </a:xfrm>
          <a:prstGeom prst="rect">
            <a:avLst/>
          </a:prstGeom>
        </p:spPr>
        <p:txBody>
          <a:bodyPr anchor="t" rtlCol="false" tIns="0" lIns="0" bIns="0" rIns="0">
            <a:spAutoFit/>
          </a:bodyPr>
          <a:lstStyle/>
          <a:p>
            <a:pPr algn="ctr">
              <a:lnSpc>
                <a:spcPts val="8400"/>
              </a:lnSpc>
              <a:spcBef>
                <a:spcPct val="0"/>
              </a:spcBef>
            </a:pPr>
            <a:r>
              <a:rPr lang="en-US" b="true" sz="6000">
                <a:solidFill>
                  <a:srgbClr val="FFFFFF"/>
                </a:solidFill>
                <a:latin typeface="Times New Roman Bold"/>
                <a:ea typeface="Times New Roman Bold"/>
                <a:cs typeface="Times New Roman Bold"/>
                <a:sym typeface="Times New Roman Bold"/>
              </a:rPr>
              <a:t>Commu</a:t>
            </a:r>
            <a:r>
              <a:rPr lang="en-US" b="true" sz="6000">
                <a:solidFill>
                  <a:srgbClr val="FFFFFF"/>
                </a:solidFill>
                <a:latin typeface="Times New Roman Bold"/>
                <a:ea typeface="Times New Roman Bold"/>
                <a:cs typeface="Times New Roman Bold"/>
                <a:sym typeface="Times New Roman Bold"/>
              </a:rPr>
              <a:t>nication &amp; Collaboration Agent</a:t>
            </a:r>
          </a:p>
        </p:txBody>
      </p:sp>
      <p:sp>
        <p:nvSpPr>
          <p:cNvPr name="TextBox 5" id="5"/>
          <p:cNvSpPr txBox="true"/>
          <p:nvPr/>
        </p:nvSpPr>
        <p:spPr>
          <a:xfrm rot="0">
            <a:off x="293669" y="7176862"/>
            <a:ext cx="10188331" cy="1199515"/>
          </a:xfrm>
          <a:prstGeom prst="rect">
            <a:avLst/>
          </a:prstGeom>
        </p:spPr>
        <p:txBody>
          <a:bodyPr anchor="t" rtlCol="false" tIns="0" lIns="0" bIns="0" rIns="0">
            <a:spAutoFit/>
          </a:bodyPr>
          <a:lstStyle/>
          <a:p>
            <a:pPr algn="ctr">
              <a:lnSpc>
                <a:spcPts val="4759"/>
              </a:lnSpc>
            </a:pPr>
            <a:r>
              <a:rPr lang="en-US" sz="3399">
                <a:solidFill>
                  <a:srgbClr val="FFFFFF"/>
                </a:solidFill>
                <a:latin typeface="Times New Roman"/>
                <a:ea typeface="Times New Roman"/>
                <a:cs typeface="Times New Roman"/>
                <a:sym typeface="Times New Roman"/>
              </a:rPr>
              <a:t>Agent communication and collaboration sequence and state diagram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949AB"/>
        </a:solidFill>
      </p:bgPr>
    </p:bg>
    <p:spTree>
      <p:nvGrpSpPr>
        <p:cNvPr id="1" name=""/>
        <p:cNvGrpSpPr/>
        <p:nvPr/>
      </p:nvGrpSpPr>
      <p:grpSpPr>
        <a:xfrm>
          <a:off x="0" y="0"/>
          <a:ext cx="0" cy="0"/>
          <a:chOff x="0" y="0"/>
          <a:chExt cx="0" cy="0"/>
        </a:xfrm>
      </p:grpSpPr>
      <p:sp>
        <p:nvSpPr>
          <p:cNvPr name="Freeform 2" id="2"/>
          <p:cNvSpPr/>
          <p:nvPr/>
        </p:nvSpPr>
        <p:spPr>
          <a:xfrm flipH="false" flipV="false" rot="0">
            <a:off x="2943112" y="2853137"/>
            <a:ext cx="11301259" cy="5283339"/>
          </a:xfrm>
          <a:custGeom>
            <a:avLst/>
            <a:gdLst/>
            <a:ahLst/>
            <a:cxnLst/>
            <a:rect r="r" b="b" t="t" l="l"/>
            <a:pathLst>
              <a:path h="5283339" w="11301259">
                <a:moveTo>
                  <a:pt x="0" y="0"/>
                </a:moveTo>
                <a:lnTo>
                  <a:pt x="11301259" y="0"/>
                </a:lnTo>
                <a:lnTo>
                  <a:pt x="11301259" y="5283338"/>
                </a:lnTo>
                <a:lnTo>
                  <a:pt x="0" y="5283338"/>
                </a:lnTo>
                <a:lnTo>
                  <a:pt x="0" y="0"/>
                </a:lnTo>
                <a:close/>
              </a:path>
            </a:pathLst>
          </a:custGeom>
          <a:blipFill>
            <a:blip r:embed="rId2"/>
            <a:stretch>
              <a:fillRect l="0" t="0" r="0" b="0"/>
            </a:stretch>
          </a:blipFill>
        </p:spPr>
      </p:sp>
      <p:sp>
        <p:nvSpPr>
          <p:cNvPr name="TextBox 3" id="3"/>
          <p:cNvSpPr txBox="true"/>
          <p:nvPr/>
        </p:nvSpPr>
        <p:spPr>
          <a:xfrm rot="0">
            <a:off x="0" y="-38100"/>
            <a:ext cx="9678074" cy="1066800"/>
          </a:xfrm>
          <a:prstGeom prst="rect">
            <a:avLst/>
          </a:prstGeom>
        </p:spPr>
        <p:txBody>
          <a:bodyPr anchor="t" rtlCol="false" tIns="0" lIns="0" bIns="0" rIns="0">
            <a:spAutoFit/>
          </a:bodyPr>
          <a:lstStyle/>
          <a:p>
            <a:pPr algn="ctr">
              <a:lnSpc>
                <a:spcPts val="8400"/>
              </a:lnSpc>
              <a:spcBef>
                <a:spcPct val="0"/>
              </a:spcBef>
            </a:pPr>
            <a:r>
              <a:rPr lang="en-US" b="true" sz="6000">
                <a:solidFill>
                  <a:srgbClr val="FFFFFF"/>
                </a:solidFill>
                <a:latin typeface="Times New Roman Bold"/>
                <a:ea typeface="Times New Roman Bold"/>
                <a:cs typeface="Times New Roman Bold"/>
                <a:sym typeface="Times New Roman Bold"/>
              </a:rPr>
              <a:t>Designed by Figma</a:t>
            </a:r>
          </a:p>
        </p:txBody>
      </p:sp>
      <p:sp>
        <p:nvSpPr>
          <p:cNvPr name="TextBox 4" id="4"/>
          <p:cNvSpPr txBox="true"/>
          <p:nvPr/>
        </p:nvSpPr>
        <p:spPr>
          <a:xfrm rot="0">
            <a:off x="116384" y="1596471"/>
            <a:ext cx="18055233" cy="599440"/>
          </a:xfrm>
          <a:prstGeom prst="rect">
            <a:avLst/>
          </a:prstGeom>
        </p:spPr>
        <p:txBody>
          <a:bodyPr anchor="t" rtlCol="false" tIns="0" lIns="0" bIns="0" rIns="0">
            <a:spAutoFit/>
          </a:bodyPr>
          <a:lstStyle/>
          <a:p>
            <a:pPr algn="ctr">
              <a:lnSpc>
                <a:spcPts val="4759"/>
              </a:lnSpc>
            </a:pPr>
            <a:r>
              <a:rPr lang="en-US" sz="3399">
                <a:solidFill>
                  <a:srgbClr val="FFFFFF"/>
                </a:solidFill>
                <a:latin typeface="Times New Roman"/>
                <a:ea typeface="Times New Roman"/>
                <a:cs typeface="Times New Roman"/>
                <a:sym typeface="Times New Roman"/>
              </a:rPr>
              <a:t>https://www.builder.my/p/3547ec285caf4f409809588d73ea380b/153d903c0b47452ea3b23d058596c0c8</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949AB"/>
        </a:solidFill>
      </p:bgPr>
    </p:bg>
    <p:spTree>
      <p:nvGrpSpPr>
        <p:cNvPr id="1" name=""/>
        <p:cNvGrpSpPr/>
        <p:nvPr/>
      </p:nvGrpSpPr>
      <p:grpSpPr>
        <a:xfrm>
          <a:off x="0" y="0"/>
          <a:ext cx="0" cy="0"/>
          <a:chOff x="0" y="0"/>
          <a:chExt cx="0" cy="0"/>
        </a:xfrm>
      </p:grpSpPr>
      <p:grpSp>
        <p:nvGrpSpPr>
          <p:cNvPr name="Group 2" id="2"/>
          <p:cNvGrpSpPr/>
          <p:nvPr/>
        </p:nvGrpSpPr>
        <p:grpSpPr>
          <a:xfrm rot="0">
            <a:off x="666750" y="4248150"/>
            <a:ext cx="5448300" cy="3581400"/>
            <a:chOff x="0" y="0"/>
            <a:chExt cx="1333267" cy="876413"/>
          </a:xfrm>
        </p:grpSpPr>
        <p:sp>
          <p:nvSpPr>
            <p:cNvPr name="Freeform 3" id="3"/>
            <p:cNvSpPr/>
            <p:nvPr/>
          </p:nvSpPr>
          <p:spPr>
            <a:xfrm flipH="false" flipV="false" rot="0">
              <a:off x="0" y="0"/>
              <a:ext cx="1333267" cy="876413"/>
            </a:xfrm>
            <a:custGeom>
              <a:avLst/>
              <a:gdLst/>
              <a:ahLst/>
              <a:cxnLst/>
              <a:rect r="r" b="b" t="t" l="l"/>
              <a:pathLst>
                <a:path h="876413" w="1333267">
                  <a:moveTo>
                    <a:pt x="0" y="0"/>
                  </a:moveTo>
                  <a:lnTo>
                    <a:pt x="1333267" y="0"/>
                  </a:lnTo>
                  <a:lnTo>
                    <a:pt x="1333267" y="876413"/>
                  </a:lnTo>
                  <a:lnTo>
                    <a:pt x="0" y="876413"/>
                  </a:lnTo>
                  <a:close/>
                </a:path>
              </a:pathLst>
            </a:custGeom>
            <a:blipFill>
              <a:blip r:embed="rId2"/>
              <a:stretch>
                <a:fillRect l="-13358" t="0" r="-13358" b="0"/>
              </a:stretch>
            </a:blipFill>
          </p:spPr>
        </p:sp>
      </p:grpSp>
      <p:grpSp>
        <p:nvGrpSpPr>
          <p:cNvPr name="Group 4" id="4"/>
          <p:cNvGrpSpPr/>
          <p:nvPr/>
        </p:nvGrpSpPr>
        <p:grpSpPr>
          <a:xfrm rot="0">
            <a:off x="7879016" y="4228065"/>
            <a:ext cx="5448300" cy="3581400"/>
            <a:chOff x="0" y="0"/>
            <a:chExt cx="1333267" cy="876413"/>
          </a:xfrm>
        </p:grpSpPr>
        <p:sp>
          <p:nvSpPr>
            <p:cNvPr name="Freeform 5" id="5"/>
            <p:cNvSpPr/>
            <p:nvPr/>
          </p:nvSpPr>
          <p:spPr>
            <a:xfrm flipH="false" flipV="false" rot="0">
              <a:off x="0" y="0"/>
              <a:ext cx="1333267" cy="876413"/>
            </a:xfrm>
            <a:custGeom>
              <a:avLst/>
              <a:gdLst/>
              <a:ahLst/>
              <a:cxnLst/>
              <a:rect r="r" b="b" t="t" l="l"/>
              <a:pathLst>
                <a:path h="876413" w="1333267">
                  <a:moveTo>
                    <a:pt x="0" y="0"/>
                  </a:moveTo>
                  <a:lnTo>
                    <a:pt x="1333267" y="0"/>
                  </a:lnTo>
                  <a:lnTo>
                    <a:pt x="1333267" y="876413"/>
                  </a:lnTo>
                  <a:lnTo>
                    <a:pt x="0" y="876413"/>
                  </a:lnTo>
                  <a:close/>
                </a:path>
              </a:pathLst>
            </a:custGeom>
            <a:blipFill>
              <a:blip r:embed="rId3"/>
              <a:stretch>
                <a:fillRect l="-83" t="0" r="-83" b="0"/>
              </a:stretch>
            </a:blipFill>
          </p:spPr>
        </p:sp>
      </p:grpSp>
      <p:sp>
        <p:nvSpPr>
          <p:cNvPr name="Freeform 6" id="6"/>
          <p:cNvSpPr/>
          <p:nvPr/>
        </p:nvSpPr>
        <p:spPr>
          <a:xfrm flipH="false" flipV="false" rot="-6723923">
            <a:off x="13666568" y="-2297777"/>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7" id="7"/>
          <p:cNvGrpSpPr/>
          <p:nvPr/>
        </p:nvGrpSpPr>
        <p:grpSpPr>
          <a:xfrm rot="0">
            <a:off x="668089" y="8366723"/>
            <a:ext cx="5446961" cy="1253517"/>
            <a:chOff x="0" y="0"/>
            <a:chExt cx="7262615" cy="1671356"/>
          </a:xfrm>
        </p:grpSpPr>
        <p:sp>
          <p:nvSpPr>
            <p:cNvPr name="TextBox 8" id="8"/>
            <p:cNvSpPr txBox="true"/>
            <p:nvPr/>
          </p:nvSpPr>
          <p:spPr>
            <a:xfrm rot="0">
              <a:off x="0" y="-47625"/>
              <a:ext cx="7262615" cy="525145"/>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E8EAF6"/>
                  </a:solidFill>
                  <a:latin typeface="Clear Sans Medium"/>
                  <a:ea typeface="Clear Sans Medium"/>
                  <a:cs typeface="Clear Sans Medium"/>
                  <a:sym typeface="Clear Sans Medium"/>
                </a:rPr>
                <a:t>A</a:t>
              </a:r>
              <a:r>
                <a:rPr lang="en-US" b="true" sz="2400" strike="noStrike" u="none">
                  <a:solidFill>
                    <a:srgbClr val="E8EAF6"/>
                  </a:solidFill>
                  <a:latin typeface="Clear Sans Medium"/>
                  <a:ea typeface="Clear Sans Medium"/>
                  <a:cs typeface="Clear Sans Medium"/>
                  <a:sym typeface="Clear Sans Medium"/>
                </a:rPr>
                <a:t>N</a:t>
              </a:r>
              <a:r>
                <a:rPr lang="en-US" b="true" sz="2400" strike="noStrike" u="none">
                  <a:solidFill>
                    <a:srgbClr val="E8EAF6"/>
                  </a:solidFill>
                  <a:latin typeface="Clear Sans Medium"/>
                  <a:ea typeface="Clear Sans Medium"/>
                  <a:cs typeface="Clear Sans Medium"/>
                  <a:sym typeface="Clear Sans Medium"/>
                </a:rPr>
                <a:t>ALYSIS</a:t>
              </a:r>
            </a:p>
          </p:txBody>
        </p:sp>
        <p:sp>
          <p:nvSpPr>
            <p:cNvPr name="TextBox 9" id="9"/>
            <p:cNvSpPr txBox="true"/>
            <p:nvPr/>
          </p:nvSpPr>
          <p:spPr>
            <a:xfrm rot="0">
              <a:off x="0" y="704251"/>
              <a:ext cx="7262615" cy="967105"/>
            </a:xfrm>
            <a:prstGeom prst="rect">
              <a:avLst/>
            </a:prstGeom>
          </p:spPr>
          <p:txBody>
            <a:bodyPr anchor="t" rtlCol="false" tIns="0" lIns="0" bIns="0" rIns="0">
              <a:spAutoFit/>
            </a:bodyPr>
            <a:lstStyle/>
            <a:p>
              <a:pPr algn="ctr" marL="0" indent="0" lvl="0">
                <a:lnSpc>
                  <a:spcPts val="2940"/>
                </a:lnSpc>
              </a:pPr>
              <a:r>
                <a:rPr lang="en-US" sz="2100">
                  <a:solidFill>
                    <a:srgbClr val="BBDEFB"/>
                  </a:solidFill>
                  <a:latin typeface="Clear Sans"/>
                  <a:ea typeface="Clear Sans"/>
                  <a:cs typeface="Clear Sans"/>
                  <a:sym typeface="Clear Sans"/>
                </a:rPr>
                <a:t>An</a:t>
              </a:r>
              <a:r>
                <a:rPr lang="en-US" sz="2100">
                  <a:solidFill>
                    <a:srgbClr val="BBDEFB"/>
                  </a:solidFill>
                  <a:latin typeface="Clear Sans"/>
                  <a:ea typeface="Clear Sans"/>
                  <a:cs typeface="Clear Sans"/>
                  <a:sym typeface="Clear Sans"/>
                </a:rPr>
                <a:t> intuitive interface for predicting stock prices.</a:t>
              </a:r>
            </a:p>
          </p:txBody>
        </p:sp>
      </p:grpSp>
      <p:grpSp>
        <p:nvGrpSpPr>
          <p:cNvPr name="Group 10" id="10"/>
          <p:cNvGrpSpPr/>
          <p:nvPr/>
        </p:nvGrpSpPr>
        <p:grpSpPr>
          <a:xfrm rot="0">
            <a:off x="7705725" y="8363534"/>
            <a:ext cx="5448300" cy="1253466"/>
            <a:chOff x="0" y="0"/>
            <a:chExt cx="7264400" cy="1671288"/>
          </a:xfrm>
        </p:grpSpPr>
        <p:sp>
          <p:nvSpPr>
            <p:cNvPr name="TextBox 11" id="11"/>
            <p:cNvSpPr txBox="true"/>
            <p:nvPr/>
          </p:nvSpPr>
          <p:spPr>
            <a:xfrm rot="0">
              <a:off x="0" y="-47625"/>
              <a:ext cx="7264400" cy="525145"/>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E8EAF6"/>
                  </a:solidFill>
                  <a:latin typeface="Clear Sans Medium"/>
                  <a:ea typeface="Clear Sans Medium"/>
                  <a:cs typeface="Clear Sans Medium"/>
                  <a:sym typeface="Clear Sans Medium"/>
                </a:rPr>
                <a:t>NEWS</a:t>
              </a:r>
            </a:p>
          </p:txBody>
        </p:sp>
        <p:sp>
          <p:nvSpPr>
            <p:cNvPr name="TextBox 12" id="12"/>
            <p:cNvSpPr txBox="true"/>
            <p:nvPr/>
          </p:nvSpPr>
          <p:spPr>
            <a:xfrm rot="0">
              <a:off x="0" y="704183"/>
              <a:ext cx="7264400" cy="967105"/>
            </a:xfrm>
            <a:prstGeom prst="rect">
              <a:avLst/>
            </a:prstGeom>
          </p:spPr>
          <p:txBody>
            <a:bodyPr anchor="t" rtlCol="false" tIns="0" lIns="0" bIns="0" rIns="0">
              <a:spAutoFit/>
            </a:bodyPr>
            <a:lstStyle/>
            <a:p>
              <a:pPr algn="ctr" marL="0" indent="0" lvl="0">
                <a:lnSpc>
                  <a:spcPts val="2940"/>
                </a:lnSpc>
              </a:pPr>
              <a:r>
                <a:rPr lang="en-US" sz="2100">
                  <a:solidFill>
                    <a:srgbClr val="BBDEFB"/>
                  </a:solidFill>
                  <a:latin typeface="Clear Sans"/>
                  <a:ea typeface="Clear Sans"/>
                  <a:cs typeface="Clear Sans"/>
                  <a:sym typeface="Clear Sans"/>
                </a:rPr>
                <a:t>A</a:t>
              </a:r>
              <a:r>
                <a:rPr lang="en-US" sz="2100">
                  <a:solidFill>
                    <a:srgbClr val="BBDEFB"/>
                  </a:solidFill>
                  <a:latin typeface="Clear Sans"/>
                  <a:ea typeface="Clear Sans"/>
                  <a:cs typeface="Clear Sans"/>
                  <a:sym typeface="Clear Sans"/>
                </a:rPr>
                <a:t>utomatically collect and analyze market news.</a:t>
              </a:r>
            </a:p>
          </p:txBody>
        </p:sp>
      </p:grpSp>
      <p:sp>
        <p:nvSpPr>
          <p:cNvPr name="TextBox 13" id="13"/>
          <p:cNvSpPr txBox="true"/>
          <p:nvPr/>
        </p:nvSpPr>
        <p:spPr>
          <a:xfrm rot="0">
            <a:off x="666750" y="1562100"/>
            <a:ext cx="14077950" cy="2111895"/>
          </a:xfrm>
          <a:prstGeom prst="rect">
            <a:avLst/>
          </a:prstGeom>
        </p:spPr>
        <p:txBody>
          <a:bodyPr anchor="t" rtlCol="false" tIns="0" lIns="0" bIns="0" rIns="0">
            <a:spAutoFit/>
          </a:bodyPr>
          <a:lstStyle/>
          <a:p>
            <a:pPr algn="l" marL="0" indent="0" lvl="0">
              <a:lnSpc>
                <a:spcPts val="8399"/>
              </a:lnSpc>
            </a:pPr>
            <a:r>
              <a:rPr lang="en-US" sz="6999" spc="-139">
                <a:solidFill>
                  <a:srgbClr val="FFFFFF"/>
                </a:solidFill>
                <a:latin typeface="Tenor Sans"/>
                <a:ea typeface="Tenor Sans"/>
                <a:cs typeface="Tenor Sans"/>
                <a:sym typeface="Tenor Sans"/>
              </a:rPr>
              <a:t>The ma</a:t>
            </a:r>
            <a:r>
              <a:rPr lang="en-US" sz="6999" spc="-139">
                <a:solidFill>
                  <a:srgbClr val="FFFFFF"/>
                </a:solidFill>
                <a:latin typeface="Tenor Sans"/>
                <a:ea typeface="Tenor Sans"/>
                <a:cs typeface="Tenor Sans"/>
                <a:sym typeface="Tenor Sans"/>
              </a:rPr>
              <a:t>in interface and functions of the system.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A237E"/>
        </a:solidFill>
      </p:bgPr>
    </p:bg>
    <p:spTree>
      <p:nvGrpSpPr>
        <p:cNvPr id="1" name=""/>
        <p:cNvGrpSpPr/>
        <p:nvPr/>
      </p:nvGrpSpPr>
      <p:grpSpPr>
        <a:xfrm>
          <a:off x="0" y="0"/>
          <a:ext cx="0" cy="0"/>
          <a:chOff x="0" y="0"/>
          <a:chExt cx="0" cy="0"/>
        </a:xfrm>
      </p:grpSpPr>
      <p:grpSp>
        <p:nvGrpSpPr>
          <p:cNvPr name="Group 2" id="2"/>
          <p:cNvGrpSpPr/>
          <p:nvPr/>
        </p:nvGrpSpPr>
        <p:grpSpPr>
          <a:xfrm rot="0">
            <a:off x="12172950" y="0"/>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0" t="-58" r="0" b="-58"/>
              </a:stretch>
            </a:blipFill>
          </p:spPr>
        </p:sp>
      </p:grpSp>
      <p:sp>
        <p:nvSpPr>
          <p:cNvPr name="Freeform 4" id="4"/>
          <p:cNvSpPr/>
          <p:nvPr/>
        </p:nvSpPr>
        <p:spPr>
          <a:xfrm flipH="false" flipV="false" rot="0">
            <a:off x="180975" y="4989193"/>
            <a:ext cx="10648068" cy="5297807"/>
          </a:xfrm>
          <a:custGeom>
            <a:avLst/>
            <a:gdLst/>
            <a:ahLst/>
            <a:cxnLst/>
            <a:rect r="r" b="b" t="t" l="l"/>
            <a:pathLst>
              <a:path h="5297807" w="10648068">
                <a:moveTo>
                  <a:pt x="0" y="0"/>
                </a:moveTo>
                <a:lnTo>
                  <a:pt x="10648068" y="0"/>
                </a:lnTo>
                <a:lnTo>
                  <a:pt x="10648068" y="5297807"/>
                </a:lnTo>
                <a:lnTo>
                  <a:pt x="0" y="5297807"/>
                </a:lnTo>
                <a:lnTo>
                  <a:pt x="0" y="0"/>
                </a:lnTo>
                <a:close/>
              </a:path>
            </a:pathLst>
          </a:custGeom>
          <a:blipFill>
            <a:blip r:embed="rId3"/>
            <a:stretch>
              <a:fillRect l="0" t="0" r="0" b="0"/>
            </a:stretch>
          </a:blipFill>
        </p:spPr>
      </p:sp>
      <p:grpSp>
        <p:nvGrpSpPr>
          <p:cNvPr name="Group 5" id="5"/>
          <p:cNvGrpSpPr/>
          <p:nvPr/>
        </p:nvGrpSpPr>
        <p:grpSpPr>
          <a:xfrm rot="0">
            <a:off x="180975" y="447675"/>
            <a:ext cx="9763125" cy="4102836"/>
            <a:chOff x="0" y="0"/>
            <a:chExt cx="13017500" cy="5470448"/>
          </a:xfrm>
        </p:grpSpPr>
        <p:sp>
          <p:nvSpPr>
            <p:cNvPr name="TextBox 6" id="6"/>
            <p:cNvSpPr txBox="true"/>
            <p:nvPr/>
          </p:nvSpPr>
          <p:spPr>
            <a:xfrm rot="0">
              <a:off x="0" y="3319799"/>
              <a:ext cx="13017500" cy="52514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C5CAE9"/>
                  </a:solidFill>
                  <a:latin typeface="Clear Sans Bold"/>
                  <a:ea typeface="Clear Sans Bold"/>
                  <a:cs typeface="Clear Sans Bold"/>
                  <a:sym typeface="Clear Sans Bold"/>
                </a:rPr>
                <a:t>C</a:t>
              </a:r>
              <a:r>
                <a:rPr lang="en-US" b="true" sz="2400">
                  <a:solidFill>
                    <a:srgbClr val="C5CAE9"/>
                  </a:solidFill>
                  <a:latin typeface="Clear Sans Bold"/>
                  <a:ea typeface="Clear Sans Bold"/>
                  <a:cs typeface="Clear Sans Bold"/>
                  <a:sym typeface="Clear Sans Bold"/>
                </a:rPr>
                <a:t>OMPARE ACTUAL PRICES</a:t>
              </a:r>
            </a:p>
          </p:txBody>
        </p:sp>
        <p:sp>
          <p:nvSpPr>
            <p:cNvPr name="TextBox 7" id="7"/>
            <p:cNvSpPr txBox="true"/>
            <p:nvPr/>
          </p:nvSpPr>
          <p:spPr>
            <a:xfrm rot="0">
              <a:off x="0" y="4513617"/>
              <a:ext cx="13017500" cy="956831"/>
            </a:xfrm>
            <a:prstGeom prst="rect">
              <a:avLst/>
            </a:prstGeom>
          </p:spPr>
          <p:txBody>
            <a:bodyPr anchor="t" rtlCol="false" tIns="0" lIns="0" bIns="0" rIns="0">
              <a:spAutoFit/>
            </a:bodyPr>
            <a:lstStyle/>
            <a:p>
              <a:pPr algn="l" marL="0" indent="0" lvl="0">
                <a:lnSpc>
                  <a:spcPts val="2939"/>
                </a:lnSpc>
                <a:spcBef>
                  <a:spcPct val="0"/>
                </a:spcBef>
              </a:pPr>
              <a:r>
                <a:rPr lang="en-US" sz="2099">
                  <a:solidFill>
                    <a:srgbClr val="BBDEFB"/>
                  </a:solidFill>
                  <a:latin typeface="Clear Sans"/>
                  <a:ea typeface="Clear Sans"/>
                  <a:cs typeface="Clear Sans"/>
                  <a:sym typeface="Clear Sans"/>
                </a:rPr>
                <a:t>The</a:t>
              </a:r>
              <a:r>
                <a:rPr lang="en-US" sz="2099">
                  <a:solidFill>
                    <a:srgbClr val="BBDEFB"/>
                  </a:solidFill>
                  <a:latin typeface="Clear Sans"/>
                  <a:ea typeface="Clear Sans"/>
                  <a:cs typeface="Clear Sans"/>
                  <a:sym typeface="Clear Sans"/>
                </a:rPr>
                <a:t> system predicted stock prices with high accuracy, illustrated by charts showing both actual and predicted prices.</a:t>
              </a:r>
            </a:p>
          </p:txBody>
        </p:sp>
        <p:sp>
          <p:nvSpPr>
            <p:cNvPr name="TextBox 8" id="8"/>
            <p:cNvSpPr txBox="true"/>
            <p:nvPr/>
          </p:nvSpPr>
          <p:spPr>
            <a:xfrm rot="0">
              <a:off x="0" y="0"/>
              <a:ext cx="13017500" cy="2815860"/>
            </a:xfrm>
            <a:prstGeom prst="rect">
              <a:avLst/>
            </a:prstGeom>
          </p:spPr>
          <p:txBody>
            <a:bodyPr anchor="t" rtlCol="false" tIns="0" lIns="0" bIns="0" rIns="0">
              <a:spAutoFit/>
            </a:bodyPr>
            <a:lstStyle/>
            <a:p>
              <a:pPr algn="l" marL="0" indent="0" lvl="0">
                <a:lnSpc>
                  <a:spcPts val="8399"/>
                </a:lnSpc>
              </a:pPr>
              <a:r>
                <a:rPr lang="en-US" sz="6999" spc="-139">
                  <a:solidFill>
                    <a:srgbClr val="FFFFFF"/>
                  </a:solidFill>
                  <a:latin typeface="Tenor Sans"/>
                  <a:ea typeface="Tenor Sans"/>
                  <a:cs typeface="Tenor Sans"/>
                  <a:sym typeface="Tenor Sans"/>
                </a:rPr>
                <a:t>LSTM Prediction Test Results</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83593"/>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231811" y="4352581"/>
            <a:ext cx="10703387" cy="4905719"/>
          </a:xfrm>
          <a:custGeom>
            <a:avLst/>
            <a:gdLst/>
            <a:ahLst/>
            <a:cxnLst/>
            <a:rect r="r" b="b" t="t" l="l"/>
            <a:pathLst>
              <a:path h="4905719" w="10703387">
                <a:moveTo>
                  <a:pt x="0" y="0"/>
                </a:moveTo>
                <a:lnTo>
                  <a:pt x="10703387" y="0"/>
                </a:lnTo>
                <a:lnTo>
                  <a:pt x="10703387" y="4905719"/>
                </a:lnTo>
                <a:lnTo>
                  <a:pt x="0" y="4905719"/>
                </a:lnTo>
                <a:lnTo>
                  <a:pt x="0" y="0"/>
                </a:lnTo>
                <a:close/>
              </a:path>
            </a:pathLst>
          </a:custGeom>
          <a:blipFill>
            <a:blip r:embed="rId4"/>
            <a:stretch>
              <a:fillRect l="0" t="0" r="0" b="0"/>
            </a:stretch>
          </a:blipFill>
        </p:spPr>
      </p:sp>
      <p:sp>
        <p:nvSpPr>
          <p:cNvPr name="TextBox 4" id="4"/>
          <p:cNvSpPr txBox="true"/>
          <p:nvPr/>
        </p:nvSpPr>
        <p:spPr>
          <a:xfrm rot="0">
            <a:off x="666750" y="1562086"/>
            <a:ext cx="9778456" cy="2114550"/>
          </a:xfrm>
          <a:prstGeom prst="rect">
            <a:avLst/>
          </a:prstGeom>
        </p:spPr>
        <p:txBody>
          <a:bodyPr anchor="t" rtlCol="false" tIns="0" lIns="0" bIns="0" rIns="0">
            <a:spAutoFit/>
          </a:bodyPr>
          <a:lstStyle/>
          <a:p>
            <a:pPr algn="l" marL="0" indent="0" lvl="0">
              <a:lnSpc>
                <a:spcPts val="8399"/>
              </a:lnSpc>
            </a:pPr>
            <a:r>
              <a:rPr lang="en-US" sz="6999" spc="-139">
                <a:solidFill>
                  <a:srgbClr val="FFFFFF"/>
                </a:solidFill>
                <a:latin typeface="Tenor Sans"/>
                <a:ea typeface="Tenor Sans"/>
                <a:cs typeface="Tenor Sans"/>
                <a:sym typeface="Tenor Sans"/>
              </a:rPr>
              <a:t>Limitatio</a:t>
            </a:r>
            <a:r>
              <a:rPr lang="en-US" sz="6999" spc="-139">
                <a:solidFill>
                  <a:srgbClr val="FFFFFF"/>
                </a:solidFill>
                <a:latin typeface="Tenor Sans"/>
                <a:ea typeface="Tenor Sans"/>
                <a:cs typeface="Tenor Sans"/>
                <a:sym typeface="Tenor Sans"/>
              </a:rPr>
              <a:t>ns and Future Development</a:t>
            </a:r>
          </a:p>
        </p:txBody>
      </p:sp>
      <p:sp>
        <p:nvSpPr>
          <p:cNvPr name="TextBox 5" id="5"/>
          <p:cNvSpPr txBox="true"/>
          <p:nvPr/>
        </p:nvSpPr>
        <p:spPr>
          <a:xfrm rot="0">
            <a:off x="11382461" y="4304956"/>
            <a:ext cx="6324102" cy="3927475"/>
          </a:xfrm>
          <a:prstGeom prst="rect">
            <a:avLst/>
          </a:prstGeom>
        </p:spPr>
        <p:txBody>
          <a:bodyPr anchor="t" rtlCol="false" tIns="0" lIns="0" bIns="0" rIns="0">
            <a:spAutoFit/>
          </a:bodyPr>
          <a:lstStyle/>
          <a:p>
            <a:pPr algn="l">
              <a:lnSpc>
                <a:spcPts val="3499"/>
              </a:lnSpc>
            </a:pPr>
            <a:r>
              <a:rPr lang="en-US" sz="2499">
                <a:solidFill>
                  <a:srgbClr val="FFFFFF"/>
                </a:solidFill>
                <a:latin typeface="Noto Sans"/>
                <a:ea typeface="Noto Sans"/>
                <a:cs typeface="Noto Sans"/>
                <a:sym typeface="Noto Sans"/>
              </a:rPr>
              <a:t>Upgrading the AI ​​Model</a:t>
            </a:r>
          </a:p>
          <a:p>
            <a:pPr algn="l">
              <a:lnSpc>
                <a:spcPts val="3499"/>
              </a:lnSpc>
            </a:pPr>
            <a:r>
              <a:rPr lang="en-US" sz="2499">
                <a:solidFill>
                  <a:srgbClr val="FFFFFF"/>
                </a:solidFill>
                <a:latin typeface="Noto Sans"/>
                <a:ea typeface="Noto Sans"/>
                <a:cs typeface="Noto Sans"/>
                <a:sym typeface="Noto Sans"/>
              </a:rPr>
              <a:t>To improve accuracy, the current AI model needs to be upgraded by applying new technologies such as Transformer.</a:t>
            </a:r>
          </a:p>
          <a:p>
            <a:pPr algn="l">
              <a:lnSpc>
                <a:spcPts val="3499"/>
              </a:lnSpc>
            </a:pPr>
            <a:r>
              <a:rPr lang="en-US" sz="2499">
                <a:solidFill>
                  <a:srgbClr val="FFFFFF"/>
                </a:solidFill>
                <a:latin typeface="Noto Sans"/>
                <a:ea typeface="Noto Sans"/>
                <a:cs typeface="Noto Sans"/>
                <a:sym typeface="Noto Sans"/>
              </a:rPr>
              <a:t>Developing a Mobile App</a:t>
            </a:r>
          </a:p>
          <a:p>
            <a:pPr algn="l">
              <a:lnSpc>
                <a:spcPts val="3499"/>
              </a:lnSpc>
            </a:pPr>
            <a:r>
              <a:rPr lang="en-US" sz="2499">
                <a:solidFill>
                  <a:srgbClr val="FFFFFF"/>
                </a:solidFill>
                <a:latin typeface="Noto Sans"/>
                <a:ea typeface="Noto Sans"/>
                <a:cs typeface="Noto Sans"/>
                <a:sym typeface="Noto Sans"/>
              </a:rPr>
              <a:t>Developing a mobile application will make it easier for users to access information and integrate APIs with the exchange for greater convenience.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3949AB"/>
        </a:solidFill>
      </p:bgPr>
    </p:bg>
    <p:spTree>
      <p:nvGrpSpPr>
        <p:cNvPr id="1" name=""/>
        <p:cNvGrpSpPr/>
        <p:nvPr/>
      </p:nvGrpSpPr>
      <p:grpSpPr>
        <a:xfrm>
          <a:off x="0" y="0"/>
          <a:ext cx="0" cy="0"/>
          <a:chOff x="0" y="0"/>
          <a:chExt cx="0" cy="0"/>
        </a:xfrm>
      </p:grpSpPr>
      <p:sp>
        <p:nvSpPr>
          <p:cNvPr name="Freeform 2" id="2"/>
          <p:cNvSpPr/>
          <p:nvPr/>
        </p:nvSpPr>
        <p:spPr>
          <a:xfrm flipH="false" flipV="false" rot="-2926989">
            <a:off x="-12431368" y="-8975965"/>
            <a:ext cx="27274407" cy="25058977"/>
          </a:xfrm>
          <a:custGeom>
            <a:avLst/>
            <a:gdLst/>
            <a:ahLst/>
            <a:cxnLst/>
            <a:rect r="r" b="b" t="t" l="l"/>
            <a:pathLst>
              <a:path h="25058977" w="27274407">
                <a:moveTo>
                  <a:pt x="0" y="0"/>
                </a:moveTo>
                <a:lnTo>
                  <a:pt x="27274407" y="0"/>
                </a:lnTo>
                <a:lnTo>
                  <a:pt x="27274407" y="25058977"/>
                </a:lnTo>
                <a:lnTo>
                  <a:pt x="0" y="25058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111384">
            <a:off x="13680135" y="1098024"/>
            <a:ext cx="12122938" cy="11672351"/>
          </a:xfrm>
          <a:custGeom>
            <a:avLst/>
            <a:gdLst/>
            <a:ahLst/>
            <a:cxnLst/>
            <a:rect r="r" b="b" t="t" l="l"/>
            <a:pathLst>
              <a:path h="11672351" w="12122938">
                <a:moveTo>
                  <a:pt x="0" y="0"/>
                </a:moveTo>
                <a:lnTo>
                  <a:pt x="12122939" y="0"/>
                </a:lnTo>
                <a:lnTo>
                  <a:pt x="12122939" y="11672352"/>
                </a:lnTo>
                <a:lnTo>
                  <a:pt x="0" y="11672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666750" y="1562100"/>
            <a:ext cx="11201400" cy="1057275"/>
          </a:xfrm>
          <a:prstGeom prst="rect">
            <a:avLst/>
          </a:prstGeom>
        </p:spPr>
        <p:txBody>
          <a:bodyPr anchor="t" rtlCol="false" tIns="0" lIns="0" bIns="0" rIns="0">
            <a:spAutoFit/>
          </a:bodyPr>
          <a:lstStyle/>
          <a:p>
            <a:pPr algn="l" marL="0" indent="0" lvl="0">
              <a:lnSpc>
                <a:spcPts val="8399"/>
              </a:lnSpc>
            </a:pPr>
            <a:r>
              <a:rPr lang="en-US" sz="6999" spc="-139">
                <a:solidFill>
                  <a:srgbClr val="FFFFFF"/>
                </a:solidFill>
                <a:latin typeface="Tenor Sans"/>
                <a:ea typeface="Tenor Sans"/>
                <a:cs typeface="Tenor Sans"/>
                <a:sym typeface="Tenor Sans"/>
              </a:rPr>
              <a:t>Conclusion</a:t>
            </a:r>
          </a:p>
        </p:txBody>
      </p:sp>
      <p:sp>
        <p:nvSpPr>
          <p:cNvPr name="TextBox 5" id="5"/>
          <p:cNvSpPr txBox="true"/>
          <p:nvPr/>
        </p:nvSpPr>
        <p:spPr>
          <a:xfrm rot="0">
            <a:off x="666750" y="2984716"/>
            <a:ext cx="10458450" cy="6692265"/>
          </a:xfrm>
          <a:prstGeom prst="rect">
            <a:avLst/>
          </a:prstGeom>
        </p:spPr>
        <p:txBody>
          <a:bodyPr anchor="t" rtlCol="false" tIns="0" lIns="0" bIns="0" rIns="0">
            <a:spAutoFit/>
          </a:bodyPr>
          <a:lstStyle/>
          <a:p>
            <a:pPr algn="l">
              <a:lnSpc>
                <a:spcPts val="3359"/>
              </a:lnSpc>
            </a:pPr>
            <a:r>
              <a:rPr lang="en-US" sz="2400" b="true">
                <a:solidFill>
                  <a:srgbClr val="FFFFFF"/>
                </a:solidFill>
                <a:latin typeface="Clear Sans Medium"/>
                <a:ea typeface="Clear Sans Medium"/>
                <a:cs typeface="Clear Sans Medium"/>
                <a:sym typeface="Clear Sans Medium"/>
              </a:rPr>
              <a:t>THE PROJECT HAS SUCCESSFULLY DEVELOPED THE MULTI-AGENT SYSTEM, AN EFFECTIVE TOOL FOR ANALYZING AND RECOMMENDING INVESTMENTS IN THE VIETNAMESE STOCK MARKET. THE SYSTEM HAS COMPREHENSIVELY AUTOMATED THE ENTIRE PROCESS, FROM DATA COLLECTION AND PROCESSING TO ANALYSIS AND FORECASTING, USING ADVANCED MACHINE LEARNING MODELS SUCH AS LSTM.</a:t>
            </a:r>
          </a:p>
          <a:p>
            <a:pPr algn="l">
              <a:lnSpc>
                <a:spcPts val="3359"/>
              </a:lnSpc>
            </a:pPr>
          </a:p>
          <a:p>
            <a:pPr algn="l">
              <a:lnSpc>
                <a:spcPts val="3359"/>
              </a:lnSpc>
            </a:pPr>
            <a:r>
              <a:rPr lang="en-US" sz="2400" b="true">
                <a:solidFill>
                  <a:srgbClr val="FFFFFF"/>
                </a:solidFill>
                <a:latin typeface="Clear Sans Medium"/>
                <a:ea typeface="Clear Sans Medium"/>
                <a:cs typeface="Clear Sans Medium"/>
                <a:sym typeface="Clear Sans Medium"/>
              </a:rPr>
              <a:t>With its flexible agent architecture and intuitive user interface, the system not only meets the set technical objectives but also demonstrates its practical application potential, becoming a powerful assistant for investors in decision-making.</a:t>
            </a:r>
          </a:p>
          <a:p>
            <a:pPr algn="l">
              <a:lnSpc>
                <a:spcPts val="3359"/>
              </a:lnSpc>
            </a:pPr>
          </a:p>
          <a:p>
            <a:pPr algn="l">
              <a:lnSpc>
                <a:spcPts val="3359"/>
              </a:lnSpc>
              <a:spcBef>
                <a:spcPct val="0"/>
              </a:spcBef>
            </a:pPr>
            <a:r>
              <a:rPr lang="en-US" b="true" sz="2400">
                <a:solidFill>
                  <a:srgbClr val="FFFFFF"/>
                </a:solidFill>
                <a:latin typeface="Clear Sans Medium"/>
                <a:ea typeface="Clear Sans Medium"/>
                <a:cs typeface="Clear Sans Medium"/>
                <a:sym typeface="Clear Sans Medium"/>
              </a:rPr>
              <a:t>However, the system still has room for improvement, particularly in the accuracy of forecasting models and its ability to process data at a large scale in real time.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949AB"/>
        </a:solidFill>
      </p:bgPr>
    </p:bg>
    <p:spTree>
      <p:nvGrpSpPr>
        <p:cNvPr id="1" name=""/>
        <p:cNvGrpSpPr/>
        <p:nvPr/>
      </p:nvGrpSpPr>
      <p:grpSpPr>
        <a:xfrm>
          <a:off x="0" y="0"/>
          <a:ext cx="0" cy="0"/>
          <a:chOff x="0" y="0"/>
          <a:chExt cx="0" cy="0"/>
        </a:xfrm>
      </p:grpSpPr>
      <p:sp>
        <p:nvSpPr>
          <p:cNvPr name="Freeform 2" id="2"/>
          <p:cNvSpPr/>
          <p:nvPr/>
        </p:nvSpPr>
        <p:spPr>
          <a:xfrm flipH="false" flipV="false" rot="-2926989">
            <a:off x="-12431368" y="-8975965"/>
            <a:ext cx="27274407" cy="25058977"/>
          </a:xfrm>
          <a:custGeom>
            <a:avLst/>
            <a:gdLst/>
            <a:ahLst/>
            <a:cxnLst/>
            <a:rect r="r" b="b" t="t" l="l"/>
            <a:pathLst>
              <a:path h="25058977" w="27274407">
                <a:moveTo>
                  <a:pt x="0" y="0"/>
                </a:moveTo>
                <a:lnTo>
                  <a:pt x="27274407" y="0"/>
                </a:lnTo>
                <a:lnTo>
                  <a:pt x="27274407" y="25058977"/>
                </a:lnTo>
                <a:lnTo>
                  <a:pt x="0" y="25058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111384">
            <a:off x="13680135" y="1098024"/>
            <a:ext cx="12122938" cy="11672351"/>
          </a:xfrm>
          <a:custGeom>
            <a:avLst/>
            <a:gdLst/>
            <a:ahLst/>
            <a:cxnLst/>
            <a:rect r="r" b="b" t="t" l="l"/>
            <a:pathLst>
              <a:path h="11672351" w="12122938">
                <a:moveTo>
                  <a:pt x="0" y="0"/>
                </a:moveTo>
                <a:lnTo>
                  <a:pt x="12122939" y="0"/>
                </a:lnTo>
                <a:lnTo>
                  <a:pt x="12122939" y="11672352"/>
                </a:lnTo>
                <a:lnTo>
                  <a:pt x="0" y="11672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3553523"/>
            <a:ext cx="11201400" cy="2114550"/>
          </a:xfrm>
          <a:prstGeom prst="rect">
            <a:avLst/>
          </a:prstGeom>
        </p:spPr>
        <p:txBody>
          <a:bodyPr anchor="t" rtlCol="false" tIns="0" lIns="0" bIns="0" rIns="0">
            <a:spAutoFit/>
          </a:bodyPr>
          <a:lstStyle/>
          <a:p>
            <a:pPr algn="l" marL="0" indent="0" lvl="0">
              <a:lnSpc>
                <a:spcPts val="8399"/>
              </a:lnSpc>
            </a:pPr>
            <a:r>
              <a:rPr lang="en-US" sz="6999" spc="-139">
                <a:solidFill>
                  <a:srgbClr val="FFFFFF"/>
                </a:solidFill>
                <a:latin typeface="Tenor Sans"/>
                <a:ea typeface="Tenor Sans"/>
                <a:cs typeface="Tenor Sans"/>
                <a:sym typeface="Tenor Sans"/>
              </a:rPr>
              <a:t>Thanks for listening !!! Good luck on your bet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Bài thuyết trình - Hệ thống Multi-Agent Viet Nam Stock</dc:description>
  <dc:identifier>DAG2smgr4wY</dc:identifier>
  <dcterms:modified xsi:type="dcterms:W3CDTF">2011-08-01T06:04:30Z</dcterms:modified>
  <cp:revision>1</cp:revision>
  <dc:title>Bài thuyết trình - Hệ thống Multi-Agent Viet Nam Stock</dc:title>
</cp:coreProperties>
</file>